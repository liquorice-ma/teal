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797675" cy="9928225"/>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A3"/>
    <a:srgbClr val="404040"/>
    <a:srgbClr val="ECECEC"/>
    <a:srgbClr val="FFFFFF"/>
    <a:srgbClr val="453D3A"/>
    <a:srgbClr val="1A92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autoAdjust="0"/>
    <p:restoredTop sz="82729" autoAdjust="0"/>
  </p:normalViewPr>
  <p:slideViewPr>
    <p:cSldViewPr snapToGrid="0">
      <p:cViewPr varScale="1">
        <p:scale>
          <a:sx n="98" d="100"/>
          <a:sy n="98" d="100"/>
        </p:scale>
        <p:origin x="1504" y="18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1"/>
            <a:ext cx="2945659" cy="498135"/>
          </a:xfrm>
          <a:prstGeom prst="rect">
            <a:avLst/>
          </a:prstGeom>
        </p:spPr>
        <p:txBody>
          <a:bodyPr vert="horz" lIns="91440" tIns="45720" rIns="91440" bIns="45720" rtlCol="0"/>
          <a:lstStyle>
            <a:lvl1pPr algn="r">
              <a:defRPr sz="1200"/>
            </a:lvl1pPr>
          </a:lstStyle>
          <a:p>
            <a:fld id="{7C95657A-DF21-452E-8AB0-21D1412A1B48}" type="datetimeFigureOut">
              <a:rPr lang="zh-CN" altLang="en-US" smtClean="0"/>
              <a:t>2026/8/30</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9260E499-B99D-4C8B-8DCC-2002B6E1D441}" type="slidenum">
              <a:rPr lang="zh-CN" altLang="en-US" smtClean="0"/>
              <a:t>‹#›</a:t>
            </a:fld>
            <a:endParaRPr lang="zh-CN" altLang="en-US"/>
          </a:p>
        </p:txBody>
      </p:sp>
    </p:spTree>
    <p:extLst>
      <p:ext uri="{BB962C8B-B14F-4D97-AF65-F5344CB8AC3E}">
        <p14:creationId xmlns:p14="http://schemas.microsoft.com/office/powerpoint/2010/main" val="18585076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50443" y="1"/>
            <a:ext cx="2945659" cy="498135"/>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A5552AA1-687E-44B8-90B6-593F54C90595}" type="datetimeFigureOut">
              <a:rPr lang="zh-CN" altLang="en-US"/>
              <a:pPr>
                <a:defRPr/>
              </a:pPr>
              <a:t>2026/8/30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768" y="4777958"/>
            <a:ext cx="5438140" cy="3909240"/>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5C39C8E0-C305-43DA-B08B-F4BE31E7570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Good afternoon everyone. My name is He Ma, from the Beijing University of Posts and Telecommunications. Today it is my pleasure to present our work titled "ELATE: Elephant Flow-aware Learning-Accelerated Traffic Engineering in Large-Scale LEO Constellation."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The talk has five parts: introduction, problem formulation, our proposed ELATE method, simulation results, and conclusion. Let's begin with the background and motivation.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First, the background and motivation of our 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Internet traffic is growing explosively, and terrestrial infrastructure alone cannot keep up. LEO mega-constellations — Starlink, OneWeb — offer three key strengths. First, global coverage: they reach remote regions that terrestrial links simply cannot serve. Second, ultra-low latency: at about five-hundred-fifty-kilometer altitude, one-way delay is roughly ten milliseconds. Third, massive scale: Starlink Phase One consists of fifteen hundred and eighty-four satellites in seventy-two orbits of twenty-two, as illustrated on the right. However, these satellites orbit at twenty-seven thousand kilometers per hour, so the topology changes continuously. On top of that, the traffic is bursty and highly non-uniform. Together, these factors push existing TE solvers to their limits — and this is exactly what motivates the new approach we present.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So, why is traffic engineering particularly hard in LEO? There are three main reasons. First, satellites are extremely dynamic, causing the network topology to change continuously and routing to be re-optimized very frequently. Second, the network is massive in scale — there are thousands of nodes and links with fluctuating demands, creating an enormous solution space. Third, a speed-quality dilemma — traditional linear programming produces good solutions, but it takes about thirty-five seconds for a single traffic matrix, which is far too slow for real-time operation. Existing heuristic methods either fail to scale, or they sacrifice congestion control. Therefore, we need a method that is both fast and high-quality.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Next, the problem formulation.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We model the constellation as a graph G, where vertices are satellites and edges are inter-satellite links. Under the Plus-Grid topology shown on the right, each satellite connects to four neighbors — two within the same orbit, two toward adjacent orbits — and the links wrap around at the boundaries, forming a torus of fifteen hundred and eighty-four nodes. Our objective is to minimize the Maximum Link Utilization, denoted eta — the highest load-to-capacity ratio across all links. The decision variables are flow-splitting ratios: for each demand, what fraction of traffic is placed on each candidate path. These are subject to capacity, demand-conservation, and non-negativity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Now let me highlight the key insight behind ELATE. In real networks, traffic is heavy-tailed. The figures on the right show measured traffic matrices over time: traffic is mostly near zero but occasionally spikes by orders of magnitude. In other words, a small number of elephant flows dominate congestion and form the bottlenecks — these need sophisticated, learning-based routing. The vast majority are mice flows, lightweight demands contributing only marginally. Our strategy is decompose and conquer: offload mice flows to shortest paths, drastically shrinking the solution space, then focus all computational effort on optimizing the critical elephant flows. This single decision is what makes ELATE so fast, as I will demonstrate later.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Now, let me introduce the design of ELATE.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ELATE is a three-stage pipeline. Stage one is flow identification, where we separate the elephant flows from the mice flows. Stage two is GNN embedding, where a graph neural network turns the network state into rich representations. And stage three is multi-agent reinforcement learning, which decides how to route the elephant flows. Let me explain each stage.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Stage one: elephant-flow identification. We apply a statistical threshold — tau equals mu plus lambda times sigma, where mu and sigma are the mean and standard deviation of the traffic matrix. Flows above the threshold are classified as elephants and receive learned routing; flows below are mice and take shortest paths. We found that lambda equals five works best — I will justify this with data shortly. We also exploit the LEO grid's translation invariance: pre-compute candidate paths once from a virtual origin and cache them, then simply shift for any source-destination pair. This reduces the path-generation complexity from quadratic to linear in the number of nodes.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Stage two: GNN embedding. We construct a time-dependent bipartite graph with two types of nodes: active links and candidate paths, connected by inclusion edges that record which links belong to which path. The aggregation operator A-t sums traffic along each path, and A-t-transpose gathers the congestion of every link on that path. This lets the graph capture both demand and supply information. We then interleave GNN layers and DNN layers. The GNN layers perform message passing between links and paths to capture their mutual interference — paths sharing a link compete for bandwidth. The DNN layers coordinate across flows and enforce that each flow's splitting ratios sum to one. This edge-centric design captures interference that ordinary node-based GNNs completely miss.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Stage three: multi-agent reinforcement learning. We treat each elephant flow as an independent agent. Each agent observes its own local state — the embeddings of its candidate paths from the GNN — and outputs continuous flow-splitting ratios through a shared stochastic policy network. The global reward is the negative of maximum link utilization, so all agents cooperate to reduce congestion. A critical domain insight: traffic engineering is a one-step process — today's routing does not affect future demands, so the expected return equals the immediate global reward. We leverage this by using a counterfactual baseline estimated through Monte-Carlo sampling to isolate each agent's marginal contribution. This provides unbiased gradients and enables stable, end-to-end multi-agent policy training.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Next, the performance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We evaluate on full Starlink Phase One — fifteen hundred and eighty-four satellites in seventy-two by twenty-two, Plus-Grid topology. For traffic, we use a random gravity model</a:t>
            </a:r>
            <a:r>
              <a:rPr lang="zh-CN" altLang="en-US" sz="1200" dirty="0">
                <a:latin typeface="Arial"/>
              </a:rPr>
              <a:t>，</a:t>
            </a:r>
            <a:r>
              <a:rPr sz="1200" dirty="0">
                <a:latin typeface="Arial"/>
              </a:rPr>
              <a:t>We generate one hundred GDP and one hundred population traffic matrices. The statistics in the table reveal a heavy tail — under GDP traffic the mean is about twelve, but the maximum exceeds one thousand. This confirms that the elephant-mice split is well-motivated.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How do we set lambda? These CDF plots sweep the threshold from three-sigma to ten-sigma for both traffic types. In both GDP and population traffic, lambda equals five — the green curve — consistently sits furthest to the left, meaning the lowest MLU. Therefore we fix lambda at five in all experiments.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Now the main load-balancing result. These boxplots compare ELATE against five baselines: shortest path, shortest edge, LP, local search, and CESLP. ELATE is the rightmost box — lower is better. ELATE consistently achieves the lowest median MLU, reducing utilization by eight to twenty-nine percent compared with every baseline, including the LP-based optimizer. Our learning-based approach matches or exceeds optimization-based methods in solution quality.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But the most important advantage of ELATE is speed. ELATE allocates a traffic matrix in just ten-point-six milliseconds — that is eleven to over three thousand times faster than the baselines. LP takes nearly thirty-five seconds; local search and CESLP take more than a minute. Why so fast? Because training is done offline. At runtime, inference is a single feedforward pass — fully parallelizable on GPU, with no iterative solver in the loop. This is what makes millisecond-scale traffic engineering feasible for a topology that changes every few seconds.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The ablation study confirms that every component is necessary. Removing the elephant-mice split overwhelms the network with state complexity. Replacing our edge-centric GNN with a node-based one degrades performance sharply, especially under population traffic. Replacing RL with direct surrogate-loss minimization hurts both quality and robustness. The full ELATE consistently achieves the lowest MLU, confirming all three components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Finally, the conclusion.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latin typeface="Arial"/>
              </a:rPr>
              <a:t>First, we exploit the heavy-tailed structure of traffic to reduce solution-space complexity. Second, our topology-aware bipartite GNN captures the path-link interference that node-centric models miss. Third, multi-agent RL with counterfactual credit assignment enables robust decentralized routing. And fourth, ELATE achieves real-time performance — eight to twenty-nine percent MLU reduction, with a speedup of eleven to over three thousand times, enabling millisecond-scale allocation that keeps pace with a constantly moving constellation.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Arial"/>
              </a:rPr>
              <a:t>That concludes our presentation on this paper. Thank you all for listening.</a:t>
            </a:r>
            <a:endParaRPr sz="1200" dirty="0">
              <a:latin typeface="Arial"/>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sp>
        <p:nvSpPr>
          <p:cNvPr id="2" name="矩形 1"/>
          <p:cNvSpPr/>
          <p:nvPr/>
        </p:nvSpPr>
        <p:spPr>
          <a:xfrm>
            <a:off x="371475" y="387350"/>
            <a:ext cx="323850" cy="32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119063" y="134938"/>
            <a:ext cx="252412" cy="25241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11226800" y="6318250"/>
            <a:ext cx="539750" cy="539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灯片编号占位符 15"/>
          <p:cNvSpPr>
            <a:spLocks noGrp="1"/>
          </p:cNvSpPr>
          <p:nvPr>
            <p:ph type="sldNum" sz="quarter" idx="10"/>
          </p:nvPr>
        </p:nvSpPr>
        <p:spPr>
          <a:xfrm>
            <a:off x="10801350" y="6405563"/>
            <a:ext cx="1390650" cy="365125"/>
          </a:xfrm>
        </p:spPr>
        <p:txBody>
          <a:bodyPr/>
          <a:lstStyle>
            <a:lvl1pPr algn="ctr">
              <a:defRPr sz="2000" b="1">
                <a:solidFill>
                  <a:schemeClr val="bg1"/>
                </a:solidFill>
              </a:defRPr>
            </a:lvl1pPr>
          </a:lstStyle>
          <a:p>
            <a:pPr>
              <a:defRPr/>
            </a:pPr>
            <a:fld id="{0434DB2A-8D9E-468A-AE07-DA360A0A18E1}" type="slidenum">
              <a:rPr lang="zh-CN" altLang="en-US"/>
              <a:pPr>
                <a:defRPr/>
              </a:pPr>
              <a:t>‹#›</a:t>
            </a:fld>
            <a:endParaRPr lang="zh-CN" altLang="en-US" dirty="0"/>
          </a:p>
        </p:txBody>
      </p:sp>
    </p:spTree>
    <p:extLst>
      <p:ext uri="{BB962C8B-B14F-4D97-AF65-F5344CB8AC3E}">
        <p14:creationId xmlns:p14="http://schemas.microsoft.com/office/powerpoint/2010/main" val="3373394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2568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A76F6FDB-EC80-4096-9BC0-F0372BF317FD}" type="datetime1">
              <a:rPr lang="zh-CN" altLang="en-US"/>
              <a:pPr>
                <a:defRPr/>
              </a:pPr>
              <a:t>2026/8/30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442CFD90-6F9F-4A21-8FDB-A1E00FAEAE0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2pPr>
      <a:lvl3pPr algn="l" rtl="0" eaLnBrk="0" fontAlgn="base" hangingPunct="0">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3pPr>
      <a:lvl4pPr algn="l" rtl="0" eaLnBrk="0" fontAlgn="base" hangingPunct="0">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4pPr>
      <a:lvl5pPr algn="l" rtl="0" eaLnBrk="0" fontAlgn="base" hangingPunct="0">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5pPr>
      <a:lvl6pPr marL="457200" algn="l" rtl="0" eaLnBrk="1" fontAlgn="base" hangingPunct="1">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6pPr>
      <a:lvl7pPr marL="914400" algn="l" rtl="0" eaLnBrk="1" fontAlgn="base" hangingPunct="1">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onsolas" panose="020B0609020204030204" pitchFamily="49" charset="0"/>
          <a:ea typeface="华文楷体" panose="0201060004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bupt_h.png"/>
          <p:cNvPicPr>
            <a:picLocks noChangeAspect="1"/>
          </p:cNvPicPr>
          <p:nvPr/>
        </p:nvPicPr>
        <p:blipFill>
          <a:blip r:embed="rId3"/>
          <a:stretch>
            <a:fillRect/>
          </a:stretch>
        </p:blipFill>
        <p:spPr>
          <a:xfrm>
            <a:off x="9211116" y="384048"/>
            <a:ext cx="2474915" cy="713232"/>
          </a:xfrm>
          <a:prstGeom prst="rect">
            <a:avLst/>
          </a:prstGeom>
        </p:spPr>
      </p:pic>
      <p:sp>
        <p:nvSpPr>
          <p:cNvPr id="3" name="TextBox 2"/>
          <p:cNvSpPr txBox="1"/>
          <p:nvPr/>
        </p:nvSpPr>
        <p:spPr>
          <a:xfrm>
            <a:off x="640080" y="2331720"/>
            <a:ext cx="10908792" cy="1417320"/>
          </a:xfrm>
          <a:prstGeom prst="rect">
            <a:avLst/>
          </a:prstGeom>
          <a:noFill/>
        </p:spPr>
        <p:txBody>
          <a:bodyPr wrap="square" lIns="73152" tIns="36576" rIns="73152" bIns="36576" anchor="t">
            <a:noAutofit/>
          </a:bodyPr>
          <a:lstStyle/>
          <a:p>
            <a:pPr algn="ctr">
              <a:spcAft>
                <a:spcPts val="800"/>
              </a:spcAft>
            </a:pPr>
            <a:r>
              <a:rPr sz="2800" b="1" i="0">
                <a:solidFill>
                  <a:srgbClr val="262626"/>
                </a:solidFill>
                <a:latin typeface="Arial"/>
                <a:ea typeface="微软雅黑"/>
              </a:rPr>
              <a:t>ELATE:  </a:t>
            </a:r>
            <a:r>
              <a:rPr sz="2800" b="1" i="0">
                <a:solidFill>
                  <a:srgbClr val="C00000"/>
                </a:solidFill>
                <a:latin typeface="Arial"/>
                <a:ea typeface="微软雅黑"/>
              </a:rPr>
              <a:t>E</a:t>
            </a:r>
            <a:r>
              <a:rPr sz="2800" b="1" i="0">
                <a:solidFill>
                  <a:srgbClr val="262626"/>
                </a:solidFill>
                <a:latin typeface="Arial"/>
                <a:ea typeface="微软雅黑"/>
              </a:rPr>
              <a:t>lephant Flow-aware  </a:t>
            </a:r>
            <a:r>
              <a:rPr sz="2800" b="1" i="0">
                <a:solidFill>
                  <a:srgbClr val="C00000"/>
                </a:solidFill>
                <a:latin typeface="Arial"/>
                <a:ea typeface="微软雅黑"/>
              </a:rPr>
              <a:t>L</a:t>
            </a:r>
            <a:r>
              <a:rPr sz="2800" b="1" i="0">
                <a:solidFill>
                  <a:srgbClr val="262626"/>
                </a:solidFill>
                <a:latin typeface="Arial"/>
                <a:ea typeface="微软雅黑"/>
              </a:rPr>
              <a:t>earning-</a:t>
            </a:r>
            <a:r>
              <a:rPr sz="2800" b="1" i="0">
                <a:solidFill>
                  <a:srgbClr val="C00000"/>
                </a:solidFill>
                <a:latin typeface="Arial"/>
                <a:ea typeface="微软雅黑"/>
              </a:rPr>
              <a:t>A</a:t>
            </a:r>
            <a:r>
              <a:rPr sz="2800" b="1" i="0">
                <a:solidFill>
                  <a:srgbClr val="262626"/>
                </a:solidFill>
                <a:latin typeface="Arial"/>
                <a:ea typeface="微软雅黑"/>
              </a:rPr>
              <a:t>ccelerated</a:t>
            </a:r>
          </a:p>
          <a:p>
            <a:pPr algn="ctr">
              <a:spcAft>
                <a:spcPts val="800"/>
              </a:spcAft>
            </a:pPr>
            <a:r>
              <a:rPr sz="2800" b="1" i="0">
                <a:solidFill>
                  <a:srgbClr val="C00000"/>
                </a:solidFill>
                <a:latin typeface="Arial"/>
                <a:ea typeface="微软雅黑"/>
              </a:rPr>
              <a:t>T</a:t>
            </a:r>
            <a:r>
              <a:rPr sz="2800" b="1" i="0">
                <a:solidFill>
                  <a:srgbClr val="262626"/>
                </a:solidFill>
                <a:latin typeface="Arial"/>
                <a:ea typeface="微软雅黑"/>
              </a:rPr>
              <a:t>raffic  </a:t>
            </a:r>
            <a:r>
              <a:rPr sz="2800" b="1" i="0">
                <a:solidFill>
                  <a:srgbClr val="C00000"/>
                </a:solidFill>
                <a:latin typeface="Arial"/>
                <a:ea typeface="微软雅黑"/>
              </a:rPr>
              <a:t>E</a:t>
            </a:r>
            <a:r>
              <a:rPr sz="2800" b="1" i="0">
                <a:solidFill>
                  <a:srgbClr val="262626"/>
                </a:solidFill>
                <a:latin typeface="Arial"/>
                <a:ea typeface="微软雅黑"/>
              </a:rPr>
              <a:t>ngineering in Large-Scale LEO Constellation</a:t>
            </a:r>
          </a:p>
        </p:txBody>
      </p:sp>
      <p:sp>
        <p:nvSpPr>
          <p:cNvPr id="4" name="TextBox 3"/>
          <p:cNvSpPr txBox="1"/>
          <p:nvPr/>
        </p:nvSpPr>
        <p:spPr>
          <a:xfrm>
            <a:off x="640080" y="4370832"/>
            <a:ext cx="10908792" cy="457200"/>
          </a:xfrm>
          <a:prstGeom prst="rect">
            <a:avLst/>
          </a:prstGeom>
          <a:noFill/>
        </p:spPr>
        <p:txBody>
          <a:bodyPr wrap="square" lIns="73152" tIns="36576" rIns="73152" bIns="36576" anchor="ctr">
            <a:noAutofit/>
          </a:bodyPr>
          <a:lstStyle/>
          <a:p>
            <a:pPr algn="ctr">
              <a:spcAft>
                <a:spcPts val="600"/>
              </a:spcAft>
            </a:pPr>
            <a:r>
              <a:rPr sz="2000" b="0" i="0">
                <a:solidFill>
                  <a:srgbClr val="262626"/>
                </a:solidFill>
                <a:latin typeface="Arial"/>
                <a:ea typeface="微软雅黑"/>
              </a:rPr>
              <a:t>He Ma,  Yumei Wang</a:t>
            </a:r>
            <a:r>
              <a:rPr sz="2000" b="0" i="0" baseline="30000">
                <a:solidFill>
                  <a:srgbClr val="262626"/>
                </a:solidFill>
                <a:latin typeface="Arial"/>
                <a:ea typeface="微软雅黑"/>
              </a:rPr>
              <a:t>†</a:t>
            </a:r>
            <a:r>
              <a:rPr sz="2000" b="0" i="0">
                <a:solidFill>
                  <a:srgbClr val="262626"/>
                </a:solidFill>
                <a:latin typeface="Arial"/>
                <a:ea typeface="微软雅黑"/>
              </a:rPr>
              <a:t>,  Yu Liu,  Linhui Wei</a:t>
            </a:r>
          </a:p>
        </p:txBody>
      </p:sp>
      <p:sp>
        <p:nvSpPr>
          <p:cNvPr id="5" name="TextBox 4"/>
          <p:cNvSpPr txBox="1"/>
          <p:nvPr/>
        </p:nvSpPr>
        <p:spPr>
          <a:xfrm>
            <a:off x="640080" y="4901184"/>
            <a:ext cx="10908792" cy="411480"/>
          </a:xfrm>
          <a:prstGeom prst="rect">
            <a:avLst/>
          </a:prstGeom>
          <a:noFill/>
        </p:spPr>
        <p:txBody>
          <a:bodyPr wrap="square" lIns="73152" tIns="36576" rIns="73152" bIns="36576" anchor="ctr">
            <a:noAutofit/>
          </a:bodyPr>
          <a:lstStyle/>
          <a:p>
            <a:pPr algn="ctr">
              <a:spcAft>
                <a:spcPts val="600"/>
              </a:spcAft>
            </a:pPr>
            <a:r>
              <a:rPr sz="1700" b="1" i="0">
                <a:solidFill>
                  <a:srgbClr val="2272AB"/>
                </a:solidFill>
                <a:latin typeface="Arial"/>
                <a:ea typeface="微软雅黑"/>
              </a:rPr>
              <a:t>Affiliation:  </a:t>
            </a:r>
            <a:r>
              <a:rPr sz="1700" b="1" i="0">
                <a:solidFill>
                  <a:srgbClr val="262626"/>
                </a:solidFill>
                <a:latin typeface="Arial"/>
                <a:ea typeface="微软雅黑"/>
              </a:rPr>
              <a:t>Beijing University of Posts and Telecommunications, China</a:t>
            </a:r>
          </a:p>
        </p:txBody>
      </p:sp>
      <p:sp>
        <p:nvSpPr>
          <p:cNvPr id="6" name="TextBox 5"/>
          <p:cNvSpPr txBox="1"/>
          <p:nvPr/>
        </p:nvSpPr>
        <p:spPr>
          <a:xfrm>
            <a:off x="640080" y="5358384"/>
            <a:ext cx="10908792" cy="411480"/>
          </a:xfrm>
          <a:prstGeom prst="rect">
            <a:avLst/>
          </a:prstGeom>
          <a:noFill/>
        </p:spPr>
        <p:txBody>
          <a:bodyPr wrap="square" lIns="73152" tIns="36576" rIns="73152" bIns="36576" anchor="ctr">
            <a:noAutofit/>
          </a:bodyPr>
          <a:lstStyle/>
          <a:p>
            <a:pPr algn="ctr">
              <a:spcAft>
                <a:spcPts val="600"/>
              </a:spcAft>
            </a:pPr>
            <a:r>
              <a:rPr sz="1700" b="1" i="0">
                <a:solidFill>
                  <a:srgbClr val="2272AB"/>
                </a:solidFill>
                <a:latin typeface="Arial"/>
                <a:ea typeface="微软雅黑"/>
              </a:rPr>
              <a:t>Corresponding Author Email:  </a:t>
            </a:r>
            <a:r>
              <a:rPr sz="1700" b="1" i="0">
                <a:solidFill>
                  <a:srgbClr val="262626"/>
                </a:solidFill>
                <a:latin typeface="Arial"/>
                <a:ea typeface="微软雅黑"/>
              </a:rPr>
              <a:t>ymwang@bupt.edu.cn</a:t>
            </a:r>
          </a:p>
        </p:txBody>
      </p:sp>
      <p:sp>
        <p:nvSpPr>
          <p:cNvPr id="7" name="TextBox 6"/>
          <p:cNvSpPr txBox="1"/>
          <p:nvPr/>
        </p:nvSpPr>
        <p:spPr>
          <a:xfrm>
            <a:off x="640080" y="5797296"/>
            <a:ext cx="10908792" cy="365760"/>
          </a:xfrm>
          <a:prstGeom prst="rect">
            <a:avLst/>
          </a:prstGeom>
          <a:noFill/>
        </p:spPr>
        <p:txBody>
          <a:bodyPr wrap="square" lIns="45720" tIns="18288" rIns="45720" bIns="18288" anchor="ctr">
            <a:noAutofit/>
          </a:bodyPr>
          <a:lstStyle/>
          <a:p>
            <a:pPr algn="ctr"/>
            <a:r>
              <a:rPr sz="1600" b="1" i="0">
                <a:solidFill>
                  <a:srgbClr val="707070"/>
                </a:solidFill>
                <a:latin typeface="Arial"/>
                <a:ea typeface="微软雅黑"/>
              </a:rPr>
              <a:t>1–4 September, 2026   ·   Singapore</a:t>
            </a:r>
          </a:p>
        </p:txBody>
      </p:sp>
      <p:pic>
        <p:nvPicPr>
          <p:cNvPr id="8" name="Picture 7" descr="logo_pimrc.png"/>
          <p:cNvPicPr>
            <a:picLocks noChangeAspect="1"/>
          </p:cNvPicPr>
          <p:nvPr/>
        </p:nvPicPr>
        <p:blipFill>
          <a:blip r:embed="rId4"/>
          <a:stretch>
            <a:fillRect/>
          </a:stretch>
        </p:blipFill>
        <p:spPr>
          <a:xfrm>
            <a:off x="502920" y="6272784"/>
            <a:ext cx="1236185" cy="420624"/>
          </a:xfrm>
          <a:prstGeom prst="rect">
            <a:avLst/>
          </a:prstGeom>
        </p:spPr>
      </p:pic>
      <p:pic>
        <p:nvPicPr>
          <p:cNvPr id="9" name="Picture 8" descr="logo_comsoc_ieee.png"/>
          <p:cNvPicPr>
            <a:picLocks noChangeAspect="1"/>
          </p:cNvPicPr>
          <p:nvPr/>
        </p:nvPicPr>
        <p:blipFill>
          <a:blip r:embed="rId5"/>
          <a:stretch>
            <a:fillRect/>
          </a:stretch>
        </p:blipFill>
        <p:spPr>
          <a:xfrm>
            <a:off x="2103120" y="6327648"/>
            <a:ext cx="1732135"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328416" cy="6858000"/>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 y="3017520"/>
            <a:ext cx="3108960" cy="731520"/>
          </a:xfrm>
          <a:prstGeom prst="rect">
            <a:avLst/>
          </a:prstGeom>
          <a:noFill/>
        </p:spPr>
        <p:txBody>
          <a:bodyPr wrap="square" lIns="45720" tIns="18288" rIns="45720" bIns="18288" anchor="ctr">
            <a:noAutofit/>
          </a:bodyPr>
          <a:lstStyle/>
          <a:p>
            <a:pPr algn="ctr"/>
            <a:r>
              <a:rPr sz="3800" b="1" i="0">
                <a:solidFill>
                  <a:srgbClr val="FFFFFF"/>
                </a:solidFill>
                <a:latin typeface="Arial"/>
                <a:ea typeface="微软雅黑"/>
              </a:rPr>
              <a:t>CONTENTS</a:t>
            </a:r>
          </a:p>
        </p:txBody>
      </p:sp>
      <p:sp>
        <p:nvSpPr>
          <p:cNvPr id="4" name="TextBox 3"/>
          <p:cNvSpPr txBox="1"/>
          <p:nvPr/>
        </p:nvSpPr>
        <p:spPr>
          <a:xfrm>
            <a:off x="109728" y="3794760"/>
            <a:ext cx="3108960" cy="411480"/>
          </a:xfrm>
          <a:prstGeom prst="rect">
            <a:avLst/>
          </a:prstGeom>
          <a:noFill/>
        </p:spPr>
        <p:txBody>
          <a:bodyPr wrap="square" lIns="45720" tIns="18288" rIns="45720" bIns="18288" anchor="t">
            <a:noAutofit/>
          </a:bodyPr>
          <a:lstStyle/>
          <a:p>
            <a:pPr algn="ctr"/>
            <a:r>
              <a:rPr sz="1800" b="1" i="0">
                <a:solidFill>
                  <a:srgbClr val="BFD1F0"/>
                </a:solidFill>
                <a:latin typeface="Arial"/>
                <a:ea typeface="微软雅黑"/>
              </a:rPr>
              <a:t>ELATE</a:t>
            </a:r>
          </a:p>
        </p:txBody>
      </p:sp>
      <p:pic>
        <p:nvPicPr>
          <p:cNvPr id="5" name="Picture 4"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6" name="Rounded Rectangle 5"/>
          <p:cNvSpPr/>
          <p:nvPr/>
        </p:nvSpPr>
        <p:spPr>
          <a:xfrm>
            <a:off x="4526280" y="1600200"/>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01</a:t>
            </a:r>
          </a:p>
        </p:txBody>
      </p:sp>
      <p:sp>
        <p:nvSpPr>
          <p:cNvPr id="7" name="Rounded Rectangle 6"/>
          <p:cNvSpPr/>
          <p:nvPr/>
        </p:nvSpPr>
        <p:spPr>
          <a:xfrm>
            <a:off x="5577840" y="1600200"/>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Introduction</a:t>
            </a:r>
          </a:p>
        </p:txBody>
      </p:sp>
      <p:sp>
        <p:nvSpPr>
          <p:cNvPr id="8" name="Rounded Rectangle 7"/>
          <p:cNvSpPr/>
          <p:nvPr/>
        </p:nvSpPr>
        <p:spPr>
          <a:xfrm>
            <a:off x="4526280" y="2532888"/>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02</a:t>
            </a:r>
          </a:p>
        </p:txBody>
      </p:sp>
      <p:sp>
        <p:nvSpPr>
          <p:cNvPr id="9" name="Rounded Rectangle 8"/>
          <p:cNvSpPr/>
          <p:nvPr/>
        </p:nvSpPr>
        <p:spPr>
          <a:xfrm>
            <a:off x="5577840" y="2532888"/>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Problem Formulation</a:t>
            </a:r>
          </a:p>
        </p:txBody>
      </p:sp>
      <p:sp>
        <p:nvSpPr>
          <p:cNvPr id="10" name="Rounded Rectangle 9"/>
          <p:cNvSpPr/>
          <p:nvPr/>
        </p:nvSpPr>
        <p:spPr>
          <a:xfrm>
            <a:off x="4526280" y="3465576"/>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03</a:t>
            </a:r>
          </a:p>
        </p:txBody>
      </p:sp>
      <p:sp>
        <p:nvSpPr>
          <p:cNvPr id="11" name="Rounded Rectangle 10"/>
          <p:cNvSpPr/>
          <p:nvPr/>
        </p:nvSpPr>
        <p:spPr>
          <a:xfrm>
            <a:off x="5577840" y="3465576"/>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Proposed ELATE Method</a:t>
            </a:r>
          </a:p>
        </p:txBody>
      </p:sp>
      <p:sp>
        <p:nvSpPr>
          <p:cNvPr id="12" name="Rounded Rectangle 11"/>
          <p:cNvSpPr/>
          <p:nvPr/>
        </p:nvSpPr>
        <p:spPr>
          <a:xfrm>
            <a:off x="4526280" y="4398264"/>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04</a:t>
            </a:r>
          </a:p>
        </p:txBody>
      </p:sp>
      <p:sp>
        <p:nvSpPr>
          <p:cNvPr id="13" name="Rounded Rectangle 12"/>
          <p:cNvSpPr/>
          <p:nvPr/>
        </p:nvSpPr>
        <p:spPr>
          <a:xfrm>
            <a:off x="5577840" y="4398264"/>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Simulation Results</a:t>
            </a:r>
          </a:p>
        </p:txBody>
      </p:sp>
      <p:sp>
        <p:nvSpPr>
          <p:cNvPr id="14" name="Rounded Rectangle 13"/>
          <p:cNvSpPr/>
          <p:nvPr/>
        </p:nvSpPr>
        <p:spPr>
          <a:xfrm>
            <a:off x="4526280" y="5330952"/>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05</a:t>
            </a:r>
          </a:p>
        </p:txBody>
      </p:sp>
      <p:sp>
        <p:nvSpPr>
          <p:cNvPr id="15" name="Rounded Rectangle 14"/>
          <p:cNvSpPr/>
          <p:nvPr/>
        </p:nvSpPr>
        <p:spPr>
          <a:xfrm>
            <a:off x="5577840" y="5330952"/>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Conclusion</a:t>
            </a:r>
          </a:p>
        </p:txBody>
      </p:sp>
      <p:sp>
        <p:nvSpPr>
          <p:cNvPr id="16" name="TextBox 15"/>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328416" cy="6858000"/>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 y="3017520"/>
            <a:ext cx="3108960" cy="731520"/>
          </a:xfrm>
          <a:prstGeom prst="rect">
            <a:avLst/>
          </a:prstGeom>
          <a:noFill/>
        </p:spPr>
        <p:txBody>
          <a:bodyPr wrap="square" lIns="45720" tIns="18288" rIns="45720" bIns="18288" anchor="ctr">
            <a:noAutofit/>
          </a:bodyPr>
          <a:lstStyle/>
          <a:p>
            <a:pPr algn="ctr"/>
            <a:r>
              <a:rPr sz="3800" b="1" i="0">
                <a:solidFill>
                  <a:srgbClr val="FFFFFF"/>
                </a:solidFill>
                <a:latin typeface="Arial"/>
                <a:ea typeface="微软雅黑"/>
              </a:rPr>
              <a:t>CONTENTS</a:t>
            </a:r>
          </a:p>
        </p:txBody>
      </p:sp>
      <p:sp>
        <p:nvSpPr>
          <p:cNvPr id="4" name="TextBox 3"/>
          <p:cNvSpPr txBox="1"/>
          <p:nvPr/>
        </p:nvSpPr>
        <p:spPr>
          <a:xfrm>
            <a:off x="109728" y="3794760"/>
            <a:ext cx="3108960" cy="411480"/>
          </a:xfrm>
          <a:prstGeom prst="rect">
            <a:avLst/>
          </a:prstGeom>
          <a:noFill/>
        </p:spPr>
        <p:txBody>
          <a:bodyPr wrap="square" lIns="45720" tIns="18288" rIns="45720" bIns="18288" anchor="t">
            <a:noAutofit/>
          </a:bodyPr>
          <a:lstStyle/>
          <a:p>
            <a:pPr algn="ctr"/>
            <a:r>
              <a:rPr sz="1800" b="1" i="0">
                <a:solidFill>
                  <a:srgbClr val="BFD1F0"/>
                </a:solidFill>
                <a:latin typeface="Arial"/>
                <a:ea typeface="微软雅黑"/>
              </a:rPr>
              <a:t>ELATE</a:t>
            </a:r>
          </a:p>
        </p:txBody>
      </p:sp>
      <p:pic>
        <p:nvPicPr>
          <p:cNvPr id="5" name="Picture 4"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6" name="Rounded Rectangle 5"/>
          <p:cNvSpPr/>
          <p:nvPr/>
        </p:nvSpPr>
        <p:spPr>
          <a:xfrm>
            <a:off x="4526280" y="1600200"/>
            <a:ext cx="502920" cy="50292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01</a:t>
            </a:r>
          </a:p>
        </p:txBody>
      </p:sp>
      <p:sp>
        <p:nvSpPr>
          <p:cNvPr id="7" name="Rounded Rectangle 6"/>
          <p:cNvSpPr/>
          <p:nvPr/>
        </p:nvSpPr>
        <p:spPr>
          <a:xfrm>
            <a:off x="5577840" y="1600200"/>
            <a:ext cx="5394960" cy="502920"/>
          </a:xfrm>
          <a:prstGeom prst="roundRect">
            <a:avLst/>
          </a:prstGeom>
          <a:solidFill>
            <a:srgbClr val="FBE7E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1">
                <a:solidFill>
                  <a:srgbClr val="C00000"/>
                </a:solidFill>
                <a:latin typeface="Arial"/>
                <a:ea typeface="微软雅黑"/>
              </a:rPr>
              <a:t>Introduction</a:t>
            </a:r>
          </a:p>
        </p:txBody>
      </p:sp>
      <p:sp>
        <p:nvSpPr>
          <p:cNvPr id="8" name="Right Arrow 7"/>
          <p:cNvSpPr/>
          <p:nvPr/>
        </p:nvSpPr>
        <p:spPr>
          <a:xfrm>
            <a:off x="3703320" y="1645920"/>
            <a:ext cx="502920" cy="402336"/>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26280" y="2532888"/>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02</a:t>
            </a:r>
          </a:p>
        </p:txBody>
      </p:sp>
      <p:sp>
        <p:nvSpPr>
          <p:cNvPr id="10" name="Rounded Rectangle 9"/>
          <p:cNvSpPr/>
          <p:nvPr/>
        </p:nvSpPr>
        <p:spPr>
          <a:xfrm>
            <a:off x="5577840" y="2532888"/>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Problem Formulation</a:t>
            </a:r>
          </a:p>
        </p:txBody>
      </p:sp>
      <p:sp>
        <p:nvSpPr>
          <p:cNvPr id="11" name="Rounded Rectangle 10"/>
          <p:cNvSpPr/>
          <p:nvPr/>
        </p:nvSpPr>
        <p:spPr>
          <a:xfrm>
            <a:off x="4526280" y="3465576"/>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03</a:t>
            </a:r>
          </a:p>
        </p:txBody>
      </p:sp>
      <p:sp>
        <p:nvSpPr>
          <p:cNvPr id="12" name="Rounded Rectangle 11"/>
          <p:cNvSpPr/>
          <p:nvPr/>
        </p:nvSpPr>
        <p:spPr>
          <a:xfrm>
            <a:off x="5577840" y="3465576"/>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Proposed ELATE Method</a:t>
            </a:r>
          </a:p>
        </p:txBody>
      </p:sp>
      <p:sp>
        <p:nvSpPr>
          <p:cNvPr id="13" name="Rounded Rectangle 12"/>
          <p:cNvSpPr/>
          <p:nvPr/>
        </p:nvSpPr>
        <p:spPr>
          <a:xfrm>
            <a:off x="4526280" y="4398264"/>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04</a:t>
            </a:r>
          </a:p>
        </p:txBody>
      </p:sp>
      <p:sp>
        <p:nvSpPr>
          <p:cNvPr id="14" name="Rounded Rectangle 13"/>
          <p:cNvSpPr/>
          <p:nvPr/>
        </p:nvSpPr>
        <p:spPr>
          <a:xfrm>
            <a:off x="5577840" y="4398264"/>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Simulation Results</a:t>
            </a:r>
          </a:p>
        </p:txBody>
      </p:sp>
      <p:sp>
        <p:nvSpPr>
          <p:cNvPr id="15" name="Rounded Rectangle 14"/>
          <p:cNvSpPr/>
          <p:nvPr/>
        </p:nvSpPr>
        <p:spPr>
          <a:xfrm>
            <a:off x="4526280" y="5330952"/>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05</a:t>
            </a:r>
          </a:p>
        </p:txBody>
      </p:sp>
      <p:sp>
        <p:nvSpPr>
          <p:cNvPr id="16" name="Rounded Rectangle 15"/>
          <p:cNvSpPr/>
          <p:nvPr/>
        </p:nvSpPr>
        <p:spPr>
          <a:xfrm>
            <a:off x="5577840" y="5330952"/>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Conclusion</a:t>
            </a:r>
          </a:p>
        </p:txBody>
      </p:sp>
      <p:sp>
        <p:nvSpPr>
          <p:cNvPr id="17" name="TextBox 16"/>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The Rise of Large-Scale LEO Constellations</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4</a:t>
            </a:r>
          </a:p>
        </p:txBody>
      </p:sp>
      <p:sp>
        <p:nvSpPr>
          <p:cNvPr id="6" name="Rectangle 5"/>
          <p:cNvSpPr/>
          <p:nvPr/>
        </p:nvSpPr>
        <p:spPr>
          <a:xfrm>
            <a:off x="502920" y="1051560"/>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05840"/>
            <a:ext cx="640080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Why LEO Mega-Constellations Matter</a:t>
            </a:r>
          </a:p>
        </p:txBody>
      </p:sp>
      <p:sp>
        <p:nvSpPr>
          <p:cNvPr id="8" name="TextBox 7"/>
          <p:cNvSpPr txBox="1"/>
          <p:nvPr/>
        </p:nvSpPr>
        <p:spPr>
          <a:xfrm>
            <a:off x="685800" y="1481328"/>
            <a:ext cx="6400800" cy="1600200"/>
          </a:xfrm>
          <a:prstGeom prst="rect">
            <a:avLst/>
          </a:prstGeom>
          <a:noFill/>
        </p:spPr>
        <p:txBody>
          <a:bodyPr wrap="square" lIns="73152" tIns="36576" rIns="73152" bIns="36576" anchor="t">
            <a:noAutofit/>
          </a:bodyPr>
          <a:lstStyle/>
          <a:p>
            <a:pPr algn="l">
              <a:spcAft>
                <a:spcPts val="200"/>
              </a:spcAft>
            </a:pPr>
            <a:r>
              <a:rPr sz="1600" b="0" i="0">
                <a:solidFill>
                  <a:srgbClr val="262626"/>
                </a:solidFill>
                <a:latin typeface="Arial"/>
                <a:ea typeface="微软雅黑"/>
              </a:rPr>
              <a:t>With the explosive growth of Internet traffic and bandwidth</a:t>
            </a:r>
          </a:p>
          <a:p>
            <a:pPr algn="l">
              <a:spcAft>
                <a:spcPts val="200"/>
              </a:spcAft>
            </a:pPr>
            <a:r>
              <a:rPr sz="1600" b="0" i="0">
                <a:solidFill>
                  <a:srgbClr val="262626"/>
                </a:solidFill>
                <a:latin typeface="Arial"/>
                <a:ea typeface="微软雅黑"/>
              </a:rPr>
              <a:t>demand, terrestrial infrastructure alone cannot keep up.</a:t>
            </a:r>
          </a:p>
          <a:p>
            <a:pPr algn="l">
              <a:spcAft>
                <a:spcPts val="200"/>
              </a:spcAft>
            </a:pPr>
            <a:endParaRPr sz="1600" b="0" i="0">
              <a:solidFill>
                <a:srgbClr val="262626"/>
              </a:solidFill>
              <a:latin typeface="Arial"/>
              <a:ea typeface="微软雅黑"/>
            </a:endParaRPr>
          </a:p>
          <a:p>
            <a:pPr algn="l">
              <a:spcAft>
                <a:spcPts val="200"/>
              </a:spcAft>
            </a:pPr>
            <a:r>
              <a:rPr sz="1600" b="0" i="0">
                <a:solidFill>
                  <a:srgbClr val="262626"/>
                </a:solidFill>
                <a:latin typeface="Arial"/>
                <a:ea typeface="微软雅黑"/>
              </a:rPr>
              <a:t>Low Earth Orbit mega-constellations — Starlink, Kuiper,</a:t>
            </a:r>
          </a:p>
          <a:p>
            <a:pPr algn="l">
              <a:spcAft>
                <a:spcPts val="200"/>
              </a:spcAft>
            </a:pPr>
            <a:r>
              <a:rPr sz="1600" b="0" i="0">
                <a:solidFill>
                  <a:srgbClr val="262626"/>
                </a:solidFill>
                <a:latin typeface="Arial"/>
                <a:ea typeface="微软雅黑"/>
              </a:rPr>
              <a:t>OneWeb — offer a promising solution with global coverage</a:t>
            </a:r>
          </a:p>
          <a:p>
            <a:pPr algn="l">
              <a:spcAft>
                <a:spcPts val="200"/>
              </a:spcAft>
            </a:pPr>
            <a:r>
              <a:rPr sz="1600" b="0" i="0">
                <a:solidFill>
                  <a:srgbClr val="262626"/>
                </a:solidFill>
                <a:latin typeface="Arial"/>
                <a:ea typeface="微软雅黑"/>
              </a:rPr>
              <a:t>and low latency.</a:t>
            </a:r>
          </a:p>
        </p:txBody>
      </p:sp>
      <p:sp>
        <p:nvSpPr>
          <p:cNvPr id="9" name="Rectangle 8"/>
          <p:cNvSpPr/>
          <p:nvPr/>
        </p:nvSpPr>
        <p:spPr>
          <a:xfrm>
            <a:off x="502920" y="3246120"/>
            <a:ext cx="2084831" cy="1234440"/>
          </a:xfrm>
          <a:prstGeom prst="rect">
            <a:avLst/>
          </a:prstGeom>
          <a:solidFill>
            <a:srgbClr val="FFFFFF"/>
          </a:solidFill>
          <a:ln w="15875">
            <a:solidFill>
              <a:srgbClr val="0035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3246120"/>
            <a:ext cx="2084831" cy="329184"/>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3246120"/>
            <a:ext cx="2084831" cy="329184"/>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Global Coverage</a:t>
            </a:r>
          </a:p>
        </p:txBody>
      </p:sp>
      <p:sp>
        <p:nvSpPr>
          <p:cNvPr id="12" name="TextBox 11"/>
          <p:cNvSpPr txBox="1"/>
          <p:nvPr/>
        </p:nvSpPr>
        <p:spPr>
          <a:xfrm>
            <a:off x="548640" y="3630168"/>
            <a:ext cx="1993391" cy="813816"/>
          </a:xfrm>
          <a:prstGeom prst="rect">
            <a:avLst/>
          </a:prstGeom>
          <a:noFill/>
        </p:spPr>
        <p:txBody>
          <a:bodyPr wrap="square" lIns="73152" tIns="36576" rIns="73152" bIns="36576" anchor="t">
            <a:noAutofit/>
          </a:bodyPr>
          <a:lstStyle/>
          <a:p>
            <a:pPr algn="ctr">
              <a:spcAft>
                <a:spcPts val="200"/>
              </a:spcAft>
            </a:pPr>
            <a:r>
              <a:rPr sz="1200" b="0" i="0">
                <a:solidFill>
                  <a:srgbClr val="262626"/>
                </a:solidFill>
                <a:latin typeface="Arial"/>
                <a:ea typeface="微软雅黑"/>
              </a:rPr>
              <a:t>Reaches remote regions</a:t>
            </a:r>
          </a:p>
          <a:p>
            <a:pPr algn="ctr">
              <a:spcAft>
                <a:spcPts val="200"/>
              </a:spcAft>
            </a:pPr>
            <a:r>
              <a:rPr sz="1200" b="0" i="0">
                <a:solidFill>
                  <a:srgbClr val="262626"/>
                </a:solidFill>
                <a:latin typeface="Arial"/>
                <a:ea typeface="微软雅黑"/>
              </a:rPr>
              <a:t>unserved by terrestrial links</a:t>
            </a:r>
          </a:p>
        </p:txBody>
      </p:sp>
      <p:sp>
        <p:nvSpPr>
          <p:cNvPr id="13" name="Rectangle 12"/>
          <p:cNvSpPr/>
          <p:nvPr/>
        </p:nvSpPr>
        <p:spPr>
          <a:xfrm>
            <a:off x="2688335" y="3246120"/>
            <a:ext cx="2084831" cy="1234440"/>
          </a:xfrm>
          <a:prstGeom prst="rect">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88335" y="3246120"/>
            <a:ext cx="2084831" cy="32918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88335" y="3246120"/>
            <a:ext cx="2084831" cy="329184"/>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Ultra-Low Latency</a:t>
            </a:r>
          </a:p>
        </p:txBody>
      </p:sp>
      <p:sp>
        <p:nvSpPr>
          <p:cNvPr id="16" name="TextBox 15"/>
          <p:cNvSpPr txBox="1"/>
          <p:nvPr/>
        </p:nvSpPr>
        <p:spPr>
          <a:xfrm>
            <a:off x="2734055" y="3630168"/>
            <a:ext cx="1993391" cy="813816"/>
          </a:xfrm>
          <a:prstGeom prst="rect">
            <a:avLst/>
          </a:prstGeom>
          <a:noFill/>
        </p:spPr>
        <p:txBody>
          <a:bodyPr wrap="square" lIns="73152" tIns="36576" rIns="73152" bIns="36576" anchor="t">
            <a:noAutofit/>
          </a:bodyPr>
          <a:lstStyle/>
          <a:p>
            <a:pPr algn="ctr">
              <a:spcAft>
                <a:spcPts val="200"/>
              </a:spcAft>
            </a:pPr>
            <a:r>
              <a:rPr sz="1200" b="0" i="0">
                <a:solidFill>
                  <a:srgbClr val="262626"/>
                </a:solidFill>
                <a:latin typeface="Arial"/>
                <a:ea typeface="微软雅黑"/>
              </a:rPr>
              <a:t>~550 km altitude enables</a:t>
            </a:r>
          </a:p>
          <a:p>
            <a:pPr algn="ctr">
              <a:spcAft>
                <a:spcPts val="200"/>
              </a:spcAft>
            </a:pPr>
            <a:r>
              <a:rPr sz="1200" b="0" i="0">
                <a:solidFill>
                  <a:srgbClr val="262626"/>
                </a:solidFill>
                <a:latin typeface="Arial"/>
                <a:ea typeface="微软雅黑"/>
              </a:rPr>
              <a:t>~10 ms one-way delay</a:t>
            </a:r>
          </a:p>
        </p:txBody>
      </p:sp>
      <p:sp>
        <p:nvSpPr>
          <p:cNvPr id="17" name="Rectangle 16"/>
          <p:cNvSpPr/>
          <p:nvPr/>
        </p:nvSpPr>
        <p:spPr>
          <a:xfrm>
            <a:off x="4873751" y="3246120"/>
            <a:ext cx="2084831" cy="123444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73751" y="3246120"/>
            <a:ext cx="2084831" cy="32918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73751" y="3246120"/>
            <a:ext cx="2084831" cy="329184"/>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Massive Scale</a:t>
            </a:r>
          </a:p>
        </p:txBody>
      </p:sp>
      <p:sp>
        <p:nvSpPr>
          <p:cNvPr id="20" name="TextBox 19"/>
          <p:cNvSpPr txBox="1"/>
          <p:nvPr/>
        </p:nvSpPr>
        <p:spPr>
          <a:xfrm>
            <a:off x="4919471" y="3630168"/>
            <a:ext cx="1993391" cy="813816"/>
          </a:xfrm>
          <a:prstGeom prst="rect">
            <a:avLst/>
          </a:prstGeom>
          <a:noFill/>
        </p:spPr>
        <p:txBody>
          <a:bodyPr wrap="square" lIns="73152" tIns="36576" rIns="73152" bIns="36576" anchor="t">
            <a:noAutofit/>
          </a:bodyPr>
          <a:lstStyle/>
          <a:p>
            <a:pPr algn="ctr">
              <a:spcAft>
                <a:spcPts val="200"/>
              </a:spcAft>
            </a:pPr>
            <a:r>
              <a:rPr sz="1200" b="0" i="0">
                <a:solidFill>
                  <a:srgbClr val="262626"/>
                </a:solidFill>
                <a:latin typeface="Arial"/>
                <a:ea typeface="微软雅黑"/>
              </a:rPr>
              <a:t>1,584 Starlink satellites</a:t>
            </a:r>
          </a:p>
          <a:p>
            <a:pPr algn="ctr">
              <a:spcAft>
                <a:spcPts val="200"/>
              </a:spcAft>
            </a:pPr>
            <a:r>
              <a:rPr sz="1200" b="0" i="0">
                <a:solidFill>
                  <a:srgbClr val="262626"/>
                </a:solidFill>
                <a:latin typeface="Arial"/>
                <a:ea typeface="微软雅黑"/>
              </a:rPr>
              <a:t>(72 orbits × 22 sats)</a:t>
            </a:r>
          </a:p>
        </p:txBody>
      </p:sp>
      <p:sp>
        <p:nvSpPr>
          <p:cNvPr id="21" name="Rectangle 20"/>
          <p:cNvSpPr/>
          <p:nvPr/>
        </p:nvSpPr>
        <p:spPr>
          <a:xfrm>
            <a:off x="502920" y="4754880"/>
            <a:ext cx="91440" cy="14173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4360" y="4754880"/>
            <a:ext cx="6355080" cy="1417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828032"/>
            <a:ext cx="6080760" cy="384048"/>
          </a:xfrm>
          <a:prstGeom prst="rect">
            <a:avLst/>
          </a:prstGeom>
          <a:noFill/>
        </p:spPr>
        <p:txBody>
          <a:bodyPr wrap="square" lIns="45720" tIns="18288" rIns="45720" bIns="18288" anchor="t">
            <a:noAutofit/>
          </a:bodyPr>
          <a:lstStyle/>
          <a:p>
            <a:pPr algn="l"/>
            <a:r>
              <a:rPr sz="1600" b="1" i="0">
                <a:solidFill>
                  <a:srgbClr val="C00000"/>
                </a:solidFill>
                <a:latin typeface="Arial"/>
                <a:ea typeface="微软雅黑"/>
              </a:rPr>
              <a:t>Why Traffic Engineering?</a:t>
            </a:r>
          </a:p>
        </p:txBody>
      </p:sp>
      <p:sp>
        <p:nvSpPr>
          <p:cNvPr id="24" name="TextBox 23"/>
          <p:cNvSpPr txBox="1"/>
          <p:nvPr/>
        </p:nvSpPr>
        <p:spPr>
          <a:xfrm>
            <a:off x="777240" y="5257800"/>
            <a:ext cx="6080760" cy="868680"/>
          </a:xfrm>
          <a:prstGeom prst="rect">
            <a:avLst/>
          </a:prstGeom>
          <a:noFill/>
        </p:spPr>
        <p:txBody>
          <a:bodyPr wrap="square" lIns="73152" tIns="36576" rIns="73152" bIns="36576" anchor="t">
            <a:noAutofit/>
          </a:bodyPr>
          <a:lstStyle/>
          <a:p>
            <a:pPr algn="l">
              <a:spcAft>
                <a:spcPts val="200"/>
              </a:spcAft>
            </a:pPr>
            <a:r>
              <a:rPr sz="1300" b="0" i="0">
                <a:solidFill>
                  <a:srgbClr val="262626"/>
                </a:solidFill>
                <a:latin typeface="Arial"/>
                <a:ea typeface="微软雅黑"/>
              </a:rPr>
              <a:t>Satellites orbit at ~27,000 km/h — the topology changes</a:t>
            </a:r>
          </a:p>
          <a:p>
            <a:pPr algn="l">
              <a:spcAft>
                <a:spcPts val="200"/>
              </a:spcAft>
            </a:pPr>
            <a:r>
              <a:rPr sz="1300" b="0" i="0">
                <a:solidFill>
                  <a:srgbClr val="262626"/>
                </a:solidFill>
                <a:latin typeface="Arial"/>
                <a:ea typeface="微软雅黑"/>
              </a:rPr>
              <a:t>continuously. Bursty, non-uniform traffic pushes existing</a:t>
            </a:r>
          </a:p>
          <a:p>
            <a:pPr algn="l">
              <a:spcAft>
                <a:spcPts val="200"/>
              </a:spcAft>
            </a:pPr>
            <a:r>
              <a:rPr sz="1300" b="0" i="0">
                <a:solidFill>
                  <a:srgbClr val="262626"/>
                </a:solidFill>
                <a:latin typeface="Arial"/>
                <a:ea typeface="微软雅黑"/>
              </a:rPr>
              <a:t>solvers to their limits, motivating a new TE approach.</a:t>
            </a:r>
          </a:p>
        </p:txBody>
      </p:sp>
      <p:pic>
        <p:nvPicPr>
          <p:cNvPr id="25" name="Picture 24" descr="globe_leo.png"/>
          <p:cNvPicPr>
            <a:picLocks noChangeAspect="1"/>
          </p:cNvPicPr>
          <p:nvPr/>
        </p:nvPicPr>
        <p:blipFill>
          <a:blip r:embed="rId4"/>
          <a:stretch>
            <a:fillRect/>
          </a:stretch>
        </p:blipFill>
        <p:spPr>
          <a:xfrm>
            <a:off x="7126393" y="1005840"/>
            <a:ext cx="4675293" cy="4526280"/>
          </a:xfrm>
          <a:prstGeom prst="rect">
            <a:avLst/>
          </a:prstGeom>
        </p:spPr>
      </p:pic>
      <p:sp>
        <p:nvSpPr>
          <p:cNvPr id="26" name="TextBox 25"/>
          <p:cNvSpPr txBox="1"/>
          <p:nvPr/>
        </p:nvSpPr>
        <p:spPr>
          <a:xfrm>
            <a:off x="6995160" y="5623560"/>
            <a:ext cx="4892040" cy="457200"/>
          </a:xfrm>
          <a:prstGeom prst="rect">
            <a:avLst/>
          </a:prstGeom>
          <a:noFill/>
        </p:spPr>
        <p:txBody>
          <a:bodyPr wrap="square" lIns="45720" tIns="18288" rIns="45720" bIns="18288" anchor="t">
            <a:noAutofit/>
          </a:bodyPr>
          <a:lstStyle/>
          <a:p>
            <a:pPr algn="ctr"/>
            <a:r>
              <a:rPr sz="1200" b="0" i="1">
                <a:solidFill>
                  <a:srgbClr val="707070"/>
                </a:solidFill>
                <a:latin typeface="Arial"/>
                <a:ea typeface="微软雅黑"/>
              </a:rPr>
              <a:t>1,584-satellite LEO constellation (D_N inter-orbit, D_M intra-orbit spacing)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Why is Traffic Engineering Hard in LEO?</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5</a:t>
            </a:r>
          </a:p>
        </p:txBody>
      </p:sp>
      <p:pic>
        <p:nvPicPr>
          <p:cNvPr id="6" name="Picture 5" descr="leo_scene_en.png"/>
          <p:cNvPicPr>
            <a:picLocks noChangeAspect="1"/>
          </p:cNvPicPr>
          <p:nvPr/>
        </p:nvPicPr>
        <p:blipFill>
          <a:blip r:embed="rId4"/>
          <a:stretch>
            <a:fillRect/>
          </a:stretch>
        </p:blipFill>
        <p:spPr>
          <a:xfrm>
            <a:off x="1666970" y="1170432"/>
            <a:ext cx="8864154" cy="4133087"/>
          </a:xfrm>
          <a:prstGeom prst="rect">
            <a:avLst/>
          </a:prstGeom>
        </p:spPr>
      </p:pic>
      <p:sp>
        <p:nvSpPr>
          <p:cNvPr id="7" name="Rounded Rectangle 6"/>
          <p:cNvSpPr/>
          <p:nvPr/>
        </p:nvSpPr>
        <p:spPr>
          <a:xfrm>
            <a:off x="2055821" y="1157824"/>
            <a:ext cx="2331720" cy="658368"/>
          </a:xfrm>
          <a:prstGeom prst="roundRect">
            <a:avLst/>
          </a:prstGeom>
          <a:solidFill>
            <a:srgbClr val="FFFFFF"/>
          </a:solidFill>
          <a:ln w="15875">
            <a:solidFill>
              <a:srgbClr val="2272AB"/>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2272AB"/>
                </a:solidFill>
                <a:latin typeface="Arial"/>
                <a:ea typeface="微软雅黑"/>
              </a:rPr>
              <a:t>High-speed, regular
satellite motion</a:t>
            </a:r>
          </a:p>
        </p:txBody>
      </p:sp>
      <p:sp>
        <p:nvSpPr>
          <p:cNvPr id="8" name="Rounded Rectangle 7"/>
          <p:cNvSpPr/>
          <p:nvPr/>
        </p:nvSpPr>
        <p:spPr>
          <a:xfrm>
            <a:off x="7260599" y="1184206"/>
            <a:ext cx="2331720" cy="658368"/>
          </a:xfrm>
          <a:prstGeom prst="roundRect">
            <a:avLst/>
          </a:prstGeom>
          <a:solidFill>
            <a:srgbClr val="FFFFFF"/>
          </a:solidFill>
          <a:ln w="15875">
            <a:solidFill>
              <a:srgbClr val="007C91"/>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007C91"/>
                </a:solidFill>
                <a:latin typeface="Arial"/>
                <a:ea typeface="微软雅黑"/>
              </a:rPr>
              <a:t>Limited on-board
compute resources</a:t>
            </a:r>
          </a:p>
        </p:txBody>
      </p:sp>
      <p:sp>
        <p:nvSpPr>
          <p:cNvPr id="9" name="Rounded Rectangle 8"/>
          <p:cNvSpPr/>
          <p:nvPr/>
        </p:nvSpPr>
        <p:spPr>
          <a:xfrm>
            <a:off x="1457470" y="2608802"/>
            <a:ext cx="2331720" cy="658368"/>
          </a:xfrm>
          <a:prstGeom prst="roundRect">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2E7D32"/>
                </a:solidFill>
                <a:latin typeface="Arial"/>
                <a:ea typeface="微软雅黑"/>
              </a:rPr>
              <a:t>Random user
distribution</a:t>
            </a:r>
          </a:p>
        </p:txBody>
      </p:sp>
      <p:sp>
        <p:nvSpPr>
          <p:cNvPr id="10" name="Rounded Rectangle 9"/>
          <p:cNvSpPr/>
          <p:nvPr/>
        </p:nvSpPr>
        <p:spPr>
          <a:xfrm>
            <a:off x="8360509" y="3039699"/>
            <a:ext cx="2331720" cy="658368"/>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C00000"/>
                </a:solidFill>
                <a:latin typeface="Arial"/>
                <a:ea typeface="微软雅黑"/>
              </a:rPr>
              <a:t>Rich, diverse
immersive services</a:t>
            </a:r>
          </a:p>
        </p:txBody>
      </p:sp>
      <p:sp>
        <p:nvSpPr>
          <p:cNvPr id="11" name="Rounded Rectangle 10"/>
          <p:cNvSpPr/>
          <p:nvPr/>
        </p:nvSpPr>
        <p:spPr>
          <a:xfrm>
            <a:off x="5758778" y="4829744"/>
            <a:ext cx="2880360" cy="402336"/>
          </a:xfrm>
          <a:prstGeom prst="roundRect">
            <a:avLst/>
          </a:prstGeom>
          <a:solidFill>
            <a:srgbClr val="FFFFFF"/>
          </a:solidFill>
          <a:ln w="15875">
            <a:solidFill>
              <a:srgbClr val="E67E2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E67E22"/>
                </a:solidFill>
                <a:latin typeface="Arial"/>
                <a:ea typeface="微软雅黑"/>
              </a:rPr>
              <a:t>Dynamic link-load variation</a:t>
            </a:r>
          </a:p>
        </p:txBody>
      </p:sp>
      <p:sp>
        <p:nvSpPr>
          <p:cNvPr id="12" name="Rectangle 11"/>
          <p:cNvSpPr/>
          <p:nvPr/>
        </p:nvSpPr>
        <p:spPr>
          <a:xfrm>
            <a:off x="502920" y="5559552"/>
            <a:ext cx="91440" cy="8412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5559552"/>
            <a:ext cx="11091672" cy="8412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5650992"/>
            <a:ext cx="10835640" cy="685800"/>
          </a:xfrm>
          <a:prstGeom prst="rect">
            <a:avLst/>
          </a:prstGeom>
          <a:noFill/>
        </p:spPr>
        <p:txBody>
          <a:bodyPr wrap="square" lIns="73152" tIns="36576" rIns="73152" bIns="36576" anchor="t">
            <a:noAutofit/>
          </a:bodyPr>
          <a:lstStyle/>
          <a:p>
            <a:pPr algn="l">
              <a:spcAft>
                <a:spcPts val="300"/>
              </a:spcAft>
            </a:pPr>
            <a:r>
              <a:rPr sz="1400" b="1" i="0">
                <a:solidFill>
                  <a:srgbClr val="C00000"/>
                </a:solidFill>
                <a:latin typeface="Arial"/>
                <a:ea typeface="微软雅黑"/>
              </a:rPr>
              <a:t>The bottleneck:  </a:t>
            </a:r>
            <a:r>
              <a:rPr sz="1400" b="0" i="0">
                <a:solidFill>
                  <a:srgbClr val="262626"/>
                </a:solidFill>
                <a:latin typeface="Arial"/>
                <a:ea typeface="微软雅黑"/>
              </a:rPr>
              <a:t>satellites move at </a:t>
            </a:r>
            <a:r>
              <a:rPr sz="1400" b="1" i="0">
                <a:solidFill>
                  <a:srgbClr val="262626"/>
                </a:solidFill>
                <a:latin typeface="Arial"/>
                <a:ea typeface="微软雅黑"/>
              </a:rPr>
              <a:t>~7.5 km/s</a:t>
            </a:r>
            <a:r>
              <a:rPr sz="1400" b="0" i="0">
                <a:solidFill>
                  <a:srgbClr val="262626"/>
                </a:solidFill>
                <a:latin typeface="Arial"/>
                <a:ea typeface="微软雅黑"/>
              </a:rPr>
              <a:t> over </a:t>
            </a:r>
            <a:r>
              <a:rPr sz="1400" b="1" i="0">
                <a:solidFill>
                  <a:srgbClr val="262626"/>
                </a:solidFill>
                <a:latin typeface="Arial"/>
                <a:ea typeface="微软雅黑"/>
              </a:rPr>
              <a:t>1,584</a:t>
            </a:r>
            <a:r>
              <a:rPr sz="1400" b="0" i="0">
                <a:solidFill>
                  <a:srgbClr val="262626"/>
                </a:solidFill>
                <a:latin typeface="Arial"/>
                <a:ea typeface="微软雅黑"/>
              </a:rPr>
              <a:t> nodes with bursty demand — the graph never stops changing.</a:t>
            </a:r>
          </a:p>
          <a:p>
            <a:pPr algn="l">
              <a:spcAft>
                <a:spcPts val="300"/>
              </a:spcAft>
            </a:pPr>
            <a:r>
              <a:rPr sz="1400" b="0" i="0">
                <a:solidFill>
                  <a:srgbClr val="262626"/>
                </a:solidFill>
                <a:latin typeface="Arial"/>
                <a:ea typeface="微软雅黑"/>
              </a:rPr>
              <a:t>Linear programming needs </a:t>
            </a:r>
            <a:r>
              <a:rPr sz="1400" b="1" i="0">
                <a:solidFill>
                  <a:srgbClr val="C00000"/>
                </a:solidFill>
                <a:latin typeface="Arial"/>
                <a:ea typeface="微软雅黑"/>
              </a:rPr>
              <a:t>34.76 s</a:t>
            </a:r>
            <a:r>
              <a:rPr sz="1400" b="0" i="0">
                <a:solidFill>
                  <a:srgbClr val="262626"/>
                </a:solidFill>
                <a:latin typeface="Arial"/>
                <a:ea typeface="微软雅黑"/>
              </a:rPr>
              <a:t> per traffic matrix — far too slow to scale, motivating a learning-accelerated approach.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328416" cy="6858000"/>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 y="3017520"/>
            <a:ext cx="3108960" cy="731520"/>
          </a:xfrm>
          <a:prstGeom prst="rect">
            <a:avLst/>
          </a:prstGeom>
          <a:noFill/>
        </p:spPr>
        <p:txBody>
          <a:bodyPr wrap="square" lIns="45720" tIns="18288" rIns="45720" bIns="18288" anchor="ctr">
            <a:noAutofit/>
          </a:bodyPr>
          <a:lstStyle/>
          <a:p>
            <a:pPr algn="ctr"/>
            <a:r>
              <a:rPr sz="3800" b="1" i="0">
                <a:solidFill>
                  <a:srgbClr val="FFFFFF"/>
                </a:solidFill>
                <a:latin typeface="Arial"/>
                <a:ea typeface="微软雅黑"/>
              </a:rPr>
              <a:t>CONTENTS</a:t>
            </a:r>
          </a:p>
        </p:txBody>
      </p:sp>
      <p:sp>
        <p:nvSpPr>
          <p:cNvPr id="4" name="TextBox 3"/>
          <p:cNvSpPr txBox="1"/>
          <p:nvPr/>
        </p:nvSpPr>
        <p:spPr>
          <a:xfrm>
            <a:off x="109728" y="3794760"/>
            <a:ext cx="3108960" cy="411480"/>
          </a:xfrm>
          <a:prstGeom prst="rect">
            <a:avLst/>
          </a:prstGeom>
          <a:noFill/>
        </p:spPr>
        <p:txBody>
          <a:bodyPr wrap="square" lIns="45720" tIns="18288" rIns="45720" bIns="18288" anchor="t">
            <a:noAutofit/>
          </a:bodyPr>
          <a:lstStyle/>
          <a:p>
            <a:pPr algn="ctr"/>
            <a:r>
              <a:rPr sz="1800" b="1" i="0">
                <a:solidFill>
                  <a:srgbClr val="BFD1F0"/>
                </a:solidFill>
                <a:latin typeface="Arial"/>
                <a:ea typeface="微软雅黑"/>
              </a:rPr>
              <a:t>ELATE</a:t>
            </a:r>
          </a:p>
        </p:txBody>
      </p:sp>
      <p:pic>
        <p:nvPicPr>
          <p:cNvPr id="5" name="Picture 4"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6" name="Rounded Rectangle 5"/>
          <p:cNvSpPr/>
          <p:nvPr/>
        </p:nvSpPr>
        <p:spPr>
          <a:xfrm>
            <a:off x="4526280" y="1600200"/>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01</a:t>
            </a:r>
          </a:p>
        </p:txBody>
      </p:sp>
      <p:sp>
        <p:nvSpPr>
          <p:cNvPr id="7" name="Rounded Rectangle 6"/>
          <p:cNvSpPr/>
          <p:nvPr/>
        </p:nvSpPr>
        <p:spPr>
          <a:xfrm>
            <a:off x="5577840" y="1600200"/>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Introduction</a:t>
            </a:r>
          </a:p>
        </p:txBody>
      </p:sp>
      <p:sp>
        <p:nvSpPr>
          <p:cNvPr id="8" name="Rounded Rectangle 7"/>
          <p:cNvSpPr/>
          <p:nvPr/>
        </p:nvSpPr>
        <p:spPr>
          <a:xfrm>
            <a:off x="4526280" y="2532888"/>
            <a:ext cx="502920" cy="50292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02</a:t>
            </a:r>
          </a:p>
        </p:txBody>
      </p:sp>
      <p:sp>
        <p:nvSpPr>
          <p:cNvPr id="9" name="Rounded Rectangle 8"/>
          <p:cNvSpPr/>
          <p:nvPr/>
        </p:nvSpPr>
        <p:spPr>
          <a:xfrm>
            <a:off x="5577840" y="2532888"/>
            <a:ext cx="5394960" cy="502920"/>
          </a:xfrm>
          <a:prstGeom prst="roundRect">
            <a:avLst/>
          </a:prstGeom>
          <a:solidFill>
            <a:srgbClr val="FBE7E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1">
                <a:solidFill>
                  <a:srgbClr val="C00000"/>
                </a:solidFill>
                <a:latin typeface="Arial"/>
                <a:ea typeface="微软雅黑"/>
              </a:rPr>
              <a:t>Problem Formulation</a:t>
            </a:r>
          </a:p>
        </p:txBody>
      </p:sp>
      <p:sp>
        <p:nvSpPr>
          <p:cNvPr id="10" name="Right Arrow 9"/>
          <p:cNvSpPr/>
          <p:nvPr/>
        </p:nvSpPr>
        <p:spPr>
          <a:xfrm>
            <a:off x="3703320" y="2578608"/>
            <a:ext cx="502920" cy="402336"/>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26280" y="3465576"/>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03</a:t>
            </a:r>
          </a:p>
        </p:txBody>
      </p:sp>
      <p:sp>
        <p:nvSpPr>
          <p:cNvPr id="12" name="Rounded Rectangle 11"/>
          <p:cNvSpPr/>
          <p:nvPr/>
        </p:nvSpPr>
        <p:spPr>
          <a:xfrm>
            <a:off x="5577840" y="3465576"/>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Proposed ELATE Method</a:t>
            </a:r>
          </a:p>
        </p:txBody>
      </p:sp>
      <p:sp>
        <p:nvSpPr>
          <p:cNvPr id="13" name="Rounded Rectangle 12"/>
          <p:cNvSpPr/>
          <p:nvPr/>
        </p:nvSpPr>
        <p:spPr>
          <a:xfrm>
            <a:off x="4526280" y="4398264"/>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04</a:t>
            </a:r>
          </a:p>
        </p:txBody>
      </p:sp>
      <p:sp>
        <p:nvSpPr>
          <p:cNvPr id="14" name="Rounded Rectangle 13"/>
          <p:cNvSpPr/>
          <p:nvPr/>
        </p:nvSpPr>
        <p:spPr>
          <a:xfrm>
            <a:off x="5577840" y="4398264"/>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Simulation Results</a:t>
            </a:r>
          </a:p>
        </p:txBody>
      </p:sp>
      <p:sp>
        <p:nvSpPr>
          <p:cNvPr id="15" name="Rounded Rectangle 14"/>
          <p:cNvSpPr/>
          <p:nvPr/>
        </p:nvSpPr>
        <p:spPr>
          <a:xfrm>
            <a:off x="4526280" y="5330952"/>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05</a:t>
            </a:r>
          </a:p>
        </p:txBody>
      </p:sp>
      <p:sp>
        <p:nvSpPr>
          <p:cNvPr id="16" name="Rounded Rectangle 15"/>
          <p:cNvSpPr/>
          <p:nvPr/>
        </p:nvSpPr>
        <p:spPr>
          <a:xfrm>
            <a:off x="5577840" y="5330952"/>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Conclusion</a:t>
            </a:r>
          </a:p>
        </p:txBody>
      </p:sp>
      <p:sp>
        <p:nvSpPr>
          <p:cNvPr id="17" name="TextBox 16"/>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System Model &amp; Objective</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7</a:t>
            </a:r>
          </a:p>
        </p:txBody>
      </p:sp>
      <p:sp>
        <p:nvSpPr>
          <p:cNvPr id="6" name="Rectangle 5"/>
          <p:cNvSpPr/>
          <p:nvPr/>
        </p:nvSpPr>
        <p:spPr>
          <a:xfrm>
            <a:off x="502920" y="1069848"/>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24128"/>
            <a:ext cx="466344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Graph Model  G = (V, E)</a:t>
            </a:r>
          </a:p>
        </p:txBody>
      </p:sp>
      <p:sp>
        <p:nvSpPr>
          <p:cNvPr id="8" name="TextBox 7"/>
          <p:cNvSpPr txBox="1"/>
          <p:nvPr/>
        </p:nvSpPr>
        <p:spPr>
          <a:xfrm>
            <a:off x="640080" y="1481328"/>
            <a:ext cx="4983480" cy="1600200"/>
          </a:xfrm>
          <a:prstGeom prst="rect">
            <a:avLst/>
          </a:prstGeom>
          <a:noFill/>
        </p:spPr>
        <p:txBody>
          <a:bodyPr wrap="square" lIns="73152" tIns="36576" rIns="73152" bIns="36576" anchor="t">
            <a:noAutofit/>
          </a:bodyPr>
          <a:lstStyle/>
          <a:p>
            <a:pPr algn="l">
              <a:spcAft>
                <a:spcPts val="300"/>
              </a:spcAft>
            </a:pPr>
            <a:r>
              <a:rPr sz="1400" b="0" i="1">
                <a:solidFill>
                  <a:srgbClr val="262626"/>
                </a:solidFill>
                <a:latin typeface="Arial"/>
                <a:ea typeface="微软雅黑"/>
              </a:rPr>
              <a:t>V</a:t>
            </a:r>
            <a:r>
              <a:rPr sz="1400" b="0" i="0">
                <a:solidFill>
                  <a:srgbClr val="262626"/>
                </a:solidFill>
                <a:latin typeface="Arial"/>
                <a:ea typeface="微软雅黑"/>
              </a:rPr>
              <a:t> = satellites (nodes)  ·  </a:t>
            </a:r>
            <a:r>
              <a:rPr sz="1400" b="0" i="1">
                <a:solidFill>
                  <a:srgbClr val="262626"/>
                </a:solidFill>
                <a:latin typeface="Arial"/>
                <a:ea typeface="微软雅黑"/>
              </a:rPr>
              <a:t>E</a:t>
            </a:r>
            <a:r>
              <a:rPr sz="1400" b="0" i="0">
                <a:solidFill>
                  <a:srgbClr val="262626"/>
                </a:solidFill>
                <a:latin typeface="Arial"/>
                <a:ea typeface="微软雅黑"/>
              </a:rPr>
              <a:t> = inter-satellite links</a:t>
            </a:r>
          </a:p>
          <a:p>
            <a:pPr algn="l">
              <a:spcAft>
                <a:spcPts val="300"/>
              </a:spcAft>
            </a:pPr>
            <a:r>
              <a:rPr sz="1400" b="0" i="0">
                <a:solidFill>
                  <a:srgbClr val="262626"/>
                </a:solidFill>
                <a:latin typeface="Arial"/>
                <a:ea typeface="微软雅黑"/>
              </a:rPr>
              <a:t>|</a:t>
            </a:r>
            <a:r>
              <a:rPr sz="1400" b="0" i="1">
                <a:solidFill>
                  <a:srgbClr val="262626"/>
                </a:solidFill>
                <a:latin typeface="Arial"/>
                <a:ea typeface="微软雅黑"/>
              </a:rPr>
              <a:t>V</a:t>
            </a:r>
            <a:r>
              <a:rPr sz="1400" b="0" i="0">
                <a:solidFill>
                  <a:srgbClr val="262626"/>
                </a:solidFill>
                <a:latin typeface="Arial"/>
                <a:ea typeface="微软雅黑"/>
              </a:rPr>
              <a:t>|  =  </a:t>
            </a:r>
            <a:r>
              <a:rPr sz="1400" b="1" i="1">
                <a:solidFill>
                  <a:srgbClr val="C00000"/>
                </a:solidFill>
                <a:latin typeface="Arial"/>
                <a:ea typeface="微软雅黑"/>
              </a:rPr>
              <a:t>N</a:t>
            </a:r>
            <a:r>
              <a:rPr sz="1400" b="1" i="0">
                <a:solidFill>
                  <a:srgbClr val="C00000"/>
                </a:solidFill>
                <a:latin typeface="Arial"/>
                <a:ea typeface="微软雅黑"/>
              </a:rPr>
              <a:t> × </a:t>
            </a:r>
            <a:r>
              <a:rPr sz="1400" b="1" i="1">
                <a:solidFill>
                  <a:srgbClr val="C00000"/>
                </a:solidFill>
                <a:latin typeface="Arial"/>
                <a:ea typeface="微软雅黑"/>
              </a:rPr>
              <a:t>M</a:t>
            </a:r>
            <a:r>
              <a:rPr sz="1400" b="1" i="0">
                <a:solidFill>
                  <a:srgbClr val="C00000"/>
                </a:solidFill>
                <a:latin typeface="Arial"/>
                <a:ea typeface="微软雅黑"/>
              </a:rPr>
              <a:t>  =  72 × 22  =  1,584</a:t>
            </a:r>
          </a:p>
          <a:p>
            <a:pPr algn="l">
              <a:spcAft>
                <a:spcPts val="300"/>
              </a:spcAft>
            </a:pPr>
            <a:r>
              <a:rPr sz="1400" b="0" i="0">
                <a:solidFill>
                  <a:srgbClr val="262626"/>
                </a:solidFill>
                <a:latin typeface="Arial"/>
                <a:ea typeface="微软雅黑"/>
              </a:rPr>
              <a:t>+Grid topology: each satellite links 4 neighbors</a:t>
            </a:r>
          </a:p>
          <a:p>
            <a:pPr algn="l">
              <a:spcAft>
                <a:spcPts val="300"/>
              </a:spcAft>
            </a:pPr>
            <a:r>
              <a:rPr sz="1400" b="0" i="0">
                <a:solidFill>
                  <a:srgbClr val="262626"/>
                </a:solidFill>
                <a:latin typeface="Arial"/>
                <a:ea typeface="微软雅黑"/>
              </a:rPr>
              <a:t>— 2 intra-orbit + 2 inter-orbit, wrapping into a torus.</a:t>
            </a:r>
          </a:p>
          <a:p>
            <a:pPr algn="l">
              <a:spcAft>
                <a:spcPts val="300"/>
              </a:spcAft>
            </a:pPr>
            <a:r>
              <a:rPr sz="1400" b="0" i="0">
                <a:solidFill>
                  <a:srgbClr val="262626"/>
                </a:solidFill>
                <a:latin typeface="Arial"/>
                <a:ea typeface="微软雅黑"/>
              </a:rPr>
              <a:t>Relative topological positions stay invariant over</a:t>
            </a:r>
          </a:p>
          <a:p>
            <a:pPr algn="l">
              <a:spcAft>
                <a:spcPts val="300"/>
              </a:spcAft>
            </a:pPr>
            <a:r>
              <a:rPr sz="1400" b="0" i="0">
                <a:solidFill>
                  <a:srgbClr val="262626"/>
                </a:solidFill>
                <a:latin typeface="Arial"/>
                <a:ea typeface="微软雅黑"/>
              </a:rPr>
              <a:t>time — a property ELATE exploits later.</a:t>
            </a:r>
          </a:p>
        </p:txBody>
      </p:sp>
      <p:sp>
        <p:nvSpPr>
          <p:cNvPr id="9" name="Rectangle 8"/>
          <p:cNvSpPr/>
          <p:nvPr/>
        </p:nvSpPr>
        <p:spPr>
          <a:xfrm>
            <a:off x="502920" y="3291839"/>
            <a:ext cx="82296"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3246120"/>
            <a:ext cx="4663440" cy="420624"/>
          </a:xfrm>
          <a:prstGeom prst="rect">
            <a:avLst/>
          </a:prstGeom>
          <a:noFill/>
        </p:spPr>
        <p:txBody>
          <a:bodyPr wrap="square" lIns="45720" tIns="18288" rIns="45720" bIns="18288" anchor="ctr">
            <a:noAutofit/>
          </a:bodyPr>
          <a:lstStyle/>
          <a:p>
            <a:pPr algn="l"/>
            <a:r>
              <a:rPr sz="2000" b="1" i="0">
                <a:solidFill>
                  <a:srgbClr val="C00000"/>
                </a:solidFill>
                <a:latin typeface="Arial"/>
                <a:ea typeface="微软雅黑"/>
              </a:rPr>
              <a:t>Objective  —  Minimize MLU (η)</a:t>
            </a:r>
          </a:p>
        </p:txBody>
      </p:sp>
      <p:sp>
        <p:nvSpPr>
          <p:cNvPr id="11" name="TextBox 10"/>
          <p:cNvSpPr txBox="1"/>
          <p:nvPr/>
        </p:nvSpPr>
        <p:spPr>
          <a:xfrm>
            <a:off x="640080" y="3703320"/>
            <a:ext cx="4983480" cy="1828800"/>
          </a:xfrm>
          <a:prstGeom prst="rect">
            <a:avLst/>
          </a:prstGeom>
          <a:noFill/>
        </p:spPr>
        <p:txBody>
          <a:bodyPr wrap="square" lIns="73152" tIns="36576" rIns="73152" bIns="36576" anchor="t">
            <a:noAutofit/>
          </a:bodyPr>
          <a:lstStyle/>
          <a:p>
            <a:pPr algn="l">
              <a:spcAft>
                <a:spcPts val="300"/>
              </a:spcAft>
            </a:pPr>
            <a:r>
              <a:rPr sz="1300" b="1" i="1">
                <a:solidFill>
                  <a:srgbClr val="262626"/>
                </a:solidFill>
                <a:latin typeface="Arial"/>
                <a:ea typeface="微软雅黑"/>
              </a:rPr>
              <a:t>η</a:t>
            </a:r>
            <a:r>
              <a:rPr sz="1300" b="1" i="0">
                <a:solidFill>
                  <a:srgbClr val="262626"/>
                </a:solidFill>
                <a:latin typeface="Arial"/>
                <a:ea typeface="微软雅黑"/>
              </a:rPr>
              <a:t> = max ratio of traffic load to link capacity</a:t>
            </a:r>
          </a:p>
          <a:p>
            <a:pPr algn="l">
              <a:spcAft>
                <a:spcPts val="300"/>
              </a:spcAft>
            </a:pPr>
            <a:r>
              <a:rPr sz="1300" b="0" i="0">
                <a:solidFill>
                  <a:srgbClr val="262626"/>
                </a:solidFill>
                <a:latin typeface="Arial"/>
                <a:ea typeface="微软雅黑"/>
              </a:rPr>
              <a:t>Decision variable  </a:t>
            </a:r>
            <a:r>
              <a:rPr sz="1300" b="0" i="1">
                <a:solidFill>
                  <a:srgbClr val="262626"/>
                </a:solidFill>
                <a:latin typeface="Arial"/>
                <a:ea typeface="微软雅黑"/>
              </a:rPr>
              <a:t>x</a:t>
            </a:r>
            <a:r>
              <a:rPr sz="1300" b="0" i="1" baseline="30000">
                <a:solidFill>
                  <a:srgbClr val="262626"/>
                </a:solidFill>
                <a:latin typeface="Arial"/>
                <a:ea typeface="微软雅黑"/>
              </a:rPr>
              <a:t>p</a:t>
            </a:r>
            <a:r>
              <a:rPr sz="1300" b="0" i="1" baseline="-25000">
                <a:solidFill>
                  <a:srgbClr val="262626"/>
                </a:solidFill>
                <a:latin typeface="Arial"/>
                <a:ea typeface="微软雅黑"/>
              </a:rPr>
              <a:t>k</a:t>
            </a:r>
            <a:r>
              <a:rPr sz="1300" b="0" i="0">
                <a:solidFill>
                  <a:srgbClr val="262626"/>
                </a:solidFill>
                <a:latin typeface="Arial"/>
                <a:ea typeface="微软雅黑"/>
              </a:rPr>
              <a:t> ∈ [0, 1]:</a:t>
            </a:r>
          </a:p>
          <a:p>
            <a:pPr algn="l">
              <a:spcAft>
                <a:spcPts val="300"/>
              </a:spcAft>
            </a:pPr>
            <a:r>
              <a:rPr sz="1200" b="0" i="0">
                <a:solidFill>
                  <a:srgbClr val="707070"/>
                </a:solidFill>
                <a:latin typeface="Arial"/>
                <a:ea typeface="微软雅黑"/>
              </a:rPr>
              <a:t>   flow-splitting ratio for demand </a:t>
            </a:r>
            <a:r>
              <a:rPr sz="1200" b="0" i="1">
                <a:solidFill>
                  <a:srgbClr val="707070"/>
                </a:solidFill>
                <a:latin typeface="Arial"/>
                <a:ea typeface="微软雅黑"/>
              </a:rPr>
              <a:t>k</a:t>
            </a:r>
            <a:r>
              <a:rPr sz="1200" b="0" i="0">
                <a:solidFill>
                  <a:srgbClr val="707070"/>
                </a:solidFill>
                <a:latin typeface="Arial"/>
                <a:ea typeface="微软雅黑"/>
              </a:rPr>
              <a:t> on path </a:t>
            </a:r>
            <a:r>
              <a:rPr sz="1200" b="0" i="1">
                <a:solidFill>
                  <a:srgbClr val="707070"/>
                </a:solidFill>
                <a:latin typeface="Arial"/>
                <a:ea typeface="微软雅黑"/>
              </a:rPr>
              <a:t>p</a:t>
            </a:r>
          </a:p>
          <a:p>
            <a:pPr algn="l">
              <a:spcAft>
                <a:spcPts val="300"/>
              </a:spcAft>
            </a:pPr>
            <a:r>
              <a:rPr sz="1300" b="1" i="0">
                <a:solidFill>
                  <a:srgbClr val="2272AB"/>
                </a:solidFill>
                <a:latin typeface="Arial"/>
                <a:ea typeface="微软雅黑"/>
              </a:rPr>
              <a:t>Constraints:</a:t>
            </a:r>
          </a:p>
          <a:p>
            <a:pPr algn="l">
              <a:spcAft>
                <a:spcPts val="300"/>
              </a:spcAft>
            </a:pPr>
            <a:r>
              <a:rPr sz="1200" b="0" i="0">
                <a:solidFill>
                  <a:srgbClr val="262626"/>
                </a:solidFill>
                <a:latin typeface="Arial"/>
                <a:ea typeface="微软雅黑"/>
              </a:rPr>
              <a:t>•  Load on each link  ≤  </a:t>
            </a:r>
            <a:r>
              <a:rPr sz="1200" b="0" i="1">
                <a:solidFill>
                  <a:srgbClr val="262626"/>
                </a:solidFill>
                <a:latin typeface="Arial"/>
                <a:ea typeface="微软雅黑"/>
              </a:rPr>
              <a:t>η</a:t>
            </a:r>
            <a:r>
              <a:rPr sz="1200" b="0" i="0">
                <a:solidFill>
                  <a:srgbClr val="262626"/>
                </a:solidFill>
                <a:latin typeface="Arial"/>
                <a:ea typeface="微软雅黑"/>
              </a:rPr>
              <a:t>  ·  capacity</a:t>
            </a:r>
          </a:p>
          <a:p>
            <a:pPr algn="l">
              <a:spcAft>
                <a:spcPts val="300"/>
              </a:spcAft>
            </a:pPr>
            <a:r>
              <a:rPr sz="1200" b="0" i="0">
                <a:solidFill>
                  <a:srgbClr val="262626"/>
                </a:solidFill>
                <a:latin typeface="Arial"/>
                <a:ea typeface="微软雅黑"/>
              </a:rPr>
              <a:t>•  All demand fully allocated (flow conservation)</a:t>
            </a:r>
          </a:p>
          <a:p>
            <a:pPr algn="l">
              <a:spcAft>
                <a:spcPts val="300"/>
              </a:spcAft>
            </a:pPr>
            <a:r>
              <a:rPr sz="1200" b="0" i="0">
                <a:solidFill>
                  <a:srgbClr val="262626"/>
                </a:solidFill>
                <a:latin typeface="Arial"/>
                <a:ea typeface="微软雅黑"/>
              </a:rPr>
              <a:t>•  Non-negativity: splitting ratios ≥ 0</a:t>
            </a:r>
          </a:p>
        </p:txBody>
      </p:sp>
      <p:pic>
        <p:nvPicPr>
          <p:cNvPr id="12" name="Picture 11" descr="grid_topo.png"/>
          <p:cNvPicPr>
            <a:picLocks noChangeAspect="1"/>
          </p:cNvPicPr>
          <p:nvPr/>
        </p:nvPicPr>
        <p:blipFill>
          <a:blip r:embed="rId4"/>
          <a:stretch>
            <a:fillRect/>
          </a:stretch>
        </p:blipFill>
        <p:spPr>
          <a:xfrm>
            <a:off x="5973729" y="1188720"/>
            <a:ext cx="5380421" cy="4526280"/>
          </a:xfrm>
          <a:prstGeom prst="rect">
            <a:avLst/>
          </a:prstGeom>
        </p:spPr>
      </p:pic>
      <p:sp>
        <p:nvSpPr>
          <p:cNvPr id="13" name="TextBox 12"/>
          <p:cNvSpPr txBox="1"/>
          <p:nvPr/>
        </p:nvSpPr>
        <p:spPr>
          <a:xfrm>
            <a:off x="5349240" y="5797296"/>
            <a:ext cx="6537960" cy="502920"/>
          </a:xfrm>
          <a:prstGeom prst="rect">
            <a:avLst/>
          </a:prstGeom>
          <a:noFill/>
        </p:spPr>
        <p:txBody>
          <a:bodyPr wrap="square" lIns="73152" tIns="36576" rIns="73152" bIns="36576" anchor="t">
            <a:noAutofit/>
          </a:bodyPr>
          <a:lstStyle/>
          <a:p>
            <a:pPr algn="ctr">
              <a:spcAft>
                <a:spcPts val="600"/>
              </a:spcAft>
            </a:pPr>
            <a:r>
              <a:rPr sz="1200" b="0" i="1">
                <a:solidFill>
                  <a:srgbClr val="707070"/>
                </a:solidFill>
                <a:latin typeface="Arial"/>
                <a:ea typeface="微软雅黑"/>
              </a:rPr>
              <a:t>+Grid topology: 2 intra-orbit + 2 inter-orbit ISLs per satellite; links wrap into a torus (D</a:t>
            </a:r>
            <a:r>
              <a:rPr sz="1200" b="0" i="1" baseline="-25000">
                <a:solidFill>
                  <a:srgbClr val="707070"/>
                </a:solidFill>
                <a:latin typeface="Arial"/>
                <a:ea typeface="微软雅黑"/>
              </a:rPr>
              <a:t>N</a:t>
            </a:r>
            <a:r>
              <a:rPr sz="1200" b="0" i="1">
                <a:solidFill>
                  <a:srgbClr val="707070"/>
                </a:solidFill>
                <a:latin typeface="Arial"/>
                <a:ea typeface="微软雅黑"/>
              </a:rPr>
              <a:t>, D</a:t>
            </a:r>
            <a:r>
              <a:rPr sz="1200" b="0" i="1" baseline="-25000">
                <a:solidFill>
                  <a:srgbClr val="707070"/>
                </a:solidFill>
                <a:latin typeface="Arial"/>
                <a:ea typeface="微软雅黑"/>
              </a:rPr>
              <a:t>M</a:t>
            </a:r>
            <a:r>
              <a:rPr sz="1200" b="0" i="1">
                <a:solidFill>
                  <a:srgbClr val="707070"/>
                </a:solidFill>
                <a:latin typeface="Arial"/>
                <a:ea typeface="微软雅黑"/>
              </a:rPr>
              <a:t> spacing)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Key Insight: Heavy-Tailed Traffic</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8</a:t>
            </a:r>
          </a:p>
        </p:txBody>
      </p:sp>
      <p:sp>
        <p:nvSpPr>
          <p:cNvPr id="6" name="Rectangle 5"/>
          <p:cNvSpPr/>
          <p:nvPr/>
        </p:nvSpPr>
        <p:spPr>
          <a:xfrm>
            <a:off x="502920" y="1078992"/>
            <a:ext cx="4892040" cy="1133856"/>
          </a:xfrm>
          <a:prstGeom prst="rect">
            <a:avLst/>
          </a:prstGeom>
          <a:solidFill>
            <a:srgbClr val="F2F4F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133856"/>
            <a:ext cx="4572000" cy="365760"/>
          </a:xfrm>
          <a:prstGeom prst="rect">
            <a:avLst/>
          </a:prstGeom>
          <a:noFill/>
        </p:spPr>
        <p:txBody>
          <a:bodyPr wrap="square" lIns="45720" tIns="18288" rIns="45720" bIns="18288" anchor="t">
            <a:noAutofit/>
          </a:bodyPr>
          <a:lstStyle/>
          <a:p>
            <a:pPr algn="l"/>
            <a:r>
              <a:rPr sz="2000" b="1" i="0">
                <a:solidFill>
                  <a:srgbClr val="C00000"/>
                </a:solidFill>
                <a:latin typeface="Arial"/>
                <a:ea typeface="微软雅黑"/>
              </a:rPr>
              <a:t>Elephant Flows</a:t>
            </a:r>
          </a:p>
        </p:txBody>
      </p:sp>
      <p:sp>
        <p:nvSpPr>
          <p:cNvPr id="8" name="TextBox 7"/>
          <p:cNvSpPr txBox="1"/>
          <p:nvPr/>
        </p:nvSpPr>
        <p:spPr>
          <a:xfrm>
            <a:off x="658368" y="1481328"/>
            <a:ext cx="4572000" cy="713232"/>
          </a:xfrm>
          <a:prstGeom prst="rect">
            <a:avLst/>
          </a:prstGeom>
          <a:noFill/>
        </p:spPr>
        <p:txBody>
          <a:bodyPr wrap="square" lIns="73152" tIns="36576" rIns="73152" bIns="36576" anchor="t">
            <a:noAutofit/>
          </a:bodyPr>
          <a:lstStyle/>
          <a:p>
            <a:pPr algn="l">
              <a:spcAft>
                <a:spcPts val="200"/>
              </a:spcAft>
            </a:pPr>
            <a:r>
              <a:rPr sz="1400" b="0" i="0">
                <a:solidFill>
                  <a:srgbClr val="262626"/>
                </a:solidFill>
                <a:latin typeface="Arial"/>
                <a:ea typeface="微软雅黑"/>
              </a:rPr>
              <a:t>Few large flows that dominate congestion and</a:t>
            </a:r>
          </a:p>
          <a:p>
            <a:pPr algn="l">
              <a:spcAft>
                <a:spcPts val="200"/>
              </a:spcAft>
            </a:pPr>
            <a:r>
              <a:rPr sz="1400" b="0" i="0">
                <a:solidFill>
                  <a:srgbClr val="262626"/>
                </a:solidFill>
                <a:latin typeface="Arial"/>
                <a:ea typeface="微软雅黑"/>
              </a:rPr>
              <a:t>form bottlenecks — need sophisticated,</a:t>
            </a:r>
          </a:p>
          <a:p>
            <a:pPr algn="l">
              <a:spcAft>
                <a:spcPts val="200"/>
              </a:spcAft>
            </a:pPr>
            <a:r>
              <a:rPr sz="1400" b="1" i="0">
                <a:solidFill>
                  <a:srgbClr val="262626"/>
                </a:solidFill>
                <a:latin typeface="Arial"/>
                <a:ea typeface="微软雅黑"/>
              </a:rPr>
              <a:t>learning-based routing optimization.</a:t>
            </a:r>
          </a:p>
        </p:txBody>
      </p:sp>
      <p:sp>
        <p:nvSpPr>
          <p:cNvPr id="9" name="Rectangle 8"/>
          <p:cNvSpPr/>
          <p:nvPr/>
        </p:nvSpPr>
        <p:spPr>
          <a:xfrm>
            <a:off x="502920" y="2322576"/>
            <a:ext cx="4892040" cy="1133856"/>
          </a:xfrm>
          <a:prstGeom prst="rect">
            <a:avLst/>
          </a:prstGeom>
          <a:solidFill>
            <a:srgbClr val="F2F4F7"/>
          </a:solidFill>
          <a:ln w="15875">
            <a:solidFill>
              <a:srgbClr val="2272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2377440"/>
            <a:ext cx="4572000" cy="365760"/>
          </a:xfrm>
          <a:prstGeom prst="rect">
            <a:avLst/>
          </a:prstGeom>
          <a:noFill/>
        </p:spPr>
        <p:txBody>
          <a:bodyPr wrap="square" lIns="45720" tIns="18288" rIns="45720" bIns="18288" anchor="t">
            <a:noAutofit/>
          </a:bodyPr>
          <a:lstStyle/>
          <a:p>
            <a:pPr algn="l"/>
            <a:r>
              <a:rPr sz="2000" b="1" i="0">
                <a:solidFill>
                  <a:srgbClr val="2272AB"/>
                </a:solidFill>
                <a:latin typeface="Arial"/>
                <a:ea typeface="微软雅黑"/>
              </a:rPr>
              <a:t>Mice Flows</a:t>
            </a:r>
          </a:p>
        </p:txBody>
      </p:sp>
      <p:sp>
        <p:nvSpPr>
          <p:cNvPr id="11" name="TextBox 10"/>
          <p:cNvSpPr txBox="1"/>
          <p:nvPr/>
        </p:nvSpPr>
        <p:spPr>
          <a:xfrm>
            <a:off x="658368" y="2724912"/>
            <a:ext cx="4572000" cy="713232"/>
          </a:xfrm>
          <a:prstGeom prst="rect">
            <a:avLst/>
          </a:prstGeom>
          <a:noFill/>
        </p:spPr>
        <p:txBody>
          <a:bodyPr wrap="square" lIns="73152" tIns="36576" rIns="73152" bIns="36576" anchor="t">
            <a:noAutofit/>
          </a:bodyPr>
          <a:lstStyle/>
          <a:p>
            <a:pPr algn="l">
              <a:spcAft>
                <a:spcPts val="200"/>
              </a:spcAft>
            </a:pPr>
            <a:r>
              <a:rPr sz="1400" b="0" i="0">
                <a:solidFill>
                  <a:srgbClr val="262626"/>
                </a:solidFill>
                <a:latin typeface="Arial"/>
                <a:ea typeface="微软雅黑"/>
              </a:rPr>
              <a:t>Many lightweight flows contributing only</a:t>
            </a:r>
          </a:p>
          <a:p>
            <a:pPr algn="l">
              <a:spcAft>
                <a:spcPts val="200"/>
              </a:spcAft>
            </a:pPr>
            <a:r>
              <a:rPr sz="1400" b="0" i="0">
                <a:solidFill>
                  <a:srgbClr val="262626"/>
                </a:solidFill>
                <a:latin typeface="Arial"/>
                <a:ea typeface="微软雅黑"/>
              </a:rPr>
              <a:t>marginally to bandwidth — safely handled</a:t>
            </a:r>
          </a:p>
          <a:p>
            <a:pPr algn="l">
              <a:spcAft>
                <a:spcPts val="200"/>
              </a:spcAft>
            </a:pPr>
            <a:r>
              <a:rPr sz="1400" b="1" i="0">
                <a:solidFill>
                  <a:srgbClr val="262626"/>
                </a:solidFill>
                <a:latin typeface="Arial"/>
                <a:ea typeface="微软雅黑"/>
              </a:rPr>
              <a:t>by static shortest-path routing.</a:t>
            </a:r>
          </a:p>
        </p:txBody>
      </p:sp>
      <p:sp>
        <p:nvSpPr>
          <p:cNvPr id="12" name="Rectangle 11"/>
          <p:cNvSpPr/>
          <p:nvPr/>
        </p:nvSpPr>
        <p:spPr>
          <a:xfrm>
            <a:off x="502920" y="3566160"/>
            <a:ext cx="4892040" cy="2578608"/>
          </a:xfrm>
          <a:prstGeom prst="rect">
            <a:avLst/>
          </a:prstGeom>
          <a:solidFill>
            <a:srgbClr val="EAF3EA"/>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3657600"/>
            <a:ext cx="4572000" cy="457200"/>
          </a:xfrm>
          <a:prstGeom prst="rect">
            <a:avLst/>
          </a:prstGeom>
          <a:noFill/>
        </p:spPr>
        <p:txBody>
          <a:bodyPr wrap="square" lIns="45720" tIns="18288" rIns="45720" bIns="18288" anchor="t">
            <a:noAutofit/>
          </a:bodyPr>
          <a:lstStyle/>
          <a:p>
            <a:pPr algn="l"/>
            <a:r>
              <a:rPr sz="1700" b="1" i="0">
                <a:solidFill>
                  <a:srgbClr val="2E7D32"/>
                </a:solidFill>
                <a:latin typeface="Arial"/>
                <a:ea typeface="微软雅黑"/>
              </a:rPr>
              <a:t>ELATE Strategy: Decompose &amp; Conquer</a:t>
            </a:r>
          </a:p>
        </p:txBody>
      </p:sp>
      <p:sp>
        <p:nvSpPr>
          <p:cNvPr id="14" name="TextBox 13"/>
          <p:cNvSpPr txBox="1"/>
          <p:nvPr/>
        </p:nvSpPr>
        <p:spPr>
          <a:xfrm>
            <a:off x="658368" y="4187952"/>
            <a:ext cx="4572000" cy="1828800"/>
          </a:xfrm>
          <a:prstGeom prst="rect">
            <a:avLst/>
          </a:prstGeom>
          <a:noFill/>
        </p:spPr>
        <p:txBody>
          <a:bodyPr wrap="square" lIns="73152" tIns="36576" rIns="73152" bIns="36576" anchor="t">
            <a:noAutofit/>
          </a:bodyPr>
          <a:lstStyle/>
          <a:p>
            <a:pPr algn="l">
              <a:spcAft>
                <a:spcPts val="600"/>
              </a:spcAft>
            </a:pPr>
            <a:r>
              <a:rPr sz="1400" b="0" i="0">
                <a:solidFill>
                  <a:srgbClr val="262626"/>
                </a:solidFill>
                <a:latin typeface="Arial"/>
                <a:ea typeface="微软雅黑"/>
              </a:rPr>
              <a:t>Offload mice flows to static shortest paths</a:t>
            </a:r>
          </a:p>
          <a:p>
            <a:pPr algn="l">
              <a:spcAft>
                <a:spcPts val="600"/>
              </a:spcAft>
            </a:pPr>
            <a:r>
              <a:rPr sz="1400" b="1" i="0">
                <a:solidFill>
                  <a:srgbClr val="262626"/>
                </a:solidFill>
                <a:latin typeface="Arial"/>
                <a:ea typeface="微软雅黑"/>
              </a:rPr>
              <a:t>→ drastically shrink the solution space,</a:t>
            </a:r>
          </a:p>
          <a:p>
            <a:pPr algn="l">
              <a:spcAft>
                <a:spcPts val="600"/>
              </a:spcAft>
            </a:pPr>
            <a:r>
              <a:rPr sz="1400" b="0" i="0">
                <a:solidFill>
                  <a:srgbClr val="262626"/>
                </a:solidFill>
                <a:latin typeface="Arial"/>
                <a:ea typeface="微软雅黑"/>
              </a:rPr>
              <a:t>then focus all computational effort on</a:t>
            </a:r>
          </a:p>
          <a:p>
            <a:pPr algn="l">
              <a:spcAft>
                <a:spcPts val="600"/>
              </a:spcAft>
            </a:pPr>
            <a:r>
              <a:rPr sz="1400" b="1" i="0">
                <a:solidFill>
                  <a:srgbClr val="262626"/>
                </a:solidFill>
                <a:latin typeface="Arial"/>
                <a:ea typeface="微软雅黑"/>
              </a:rPr>
              <a:t>optimizing the critical elephant flows only.</a:t>
            </a:r>
          </a:p>
        </p:txBody>
      </p:sp>
      <p:pic>
        <p:nvPicPr>
          <p:cNvPr id="15" name="Picture 14" descr="traffic_ts.png"/>
          <p:cNvPicPr>
            <a:picLocks noChangeAspect="1"/>
          </p:cNvPicPr>
          <p:nvPr/>
        </p:nvPicPr>
        <p:blipFill>
          <a:blip r:embed="rId4"/>
          <a:stretch>
            <a:fillRect/>
          </a:stretch>
        </p:blipFill>
        <p:spPr>
          <a:xfrm>
            <a:off x="6149483" y="1078992"/>
            <a:ext cx="5028913" cy="4663440"/>
          </a:xfrm>
          <a:prstGeom prst="rect">
            <a:avLst/>
          </a:prstGeom>
        </p:spPr>
      </p:pic>
      <p:sp>
        <p:nvSpPr>
          <p:cNvPr id="16" name="TextBox 15"/>
          <p:cNvSpPr txBox="1"/>
          <p:nvPr/>
        </p:nvSpPr>
        <p:spPr>
          <a:xfrm>
            <a:off x="5532120" y="5760720"/>
            <a:ext cx="6263640" cy="365760"/>
          </a:xfrm>
          <a:prstGeom prst="rect">
            <a:avLst/>
          </a:prstGeom>
          <a:noFill/>
        </p:spPr>
        <p:txBody>
          <a:bodyPr wrap="square" lIns="45720" tIns="18288" rIns="45720" bIns="18288" anchor="t">
            <a:noAutofit/>
          </a:bodyPr>
          <a:lstStyle/>
          <a:p>
            <a:pPr algn="ctr"/>
            <a:r>
              <a:rPr sz="1300" b="0" i="1">
                <a:solidFill>
                  <a:srgbClr val="707070"/>
                </a:solidFill>
                <a:latin typeface="Arial"/>
                <a:ea typeface="微软雅黑"/>
              </a:rPr>
              <a:t>Measured traffic matrices: sparse, bursty spikes of several orders of magnitude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328416" cy="6858000"/>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 y="3017520"/>
            <a:ext cx="3108960" cy="731520"/>
          </a:xfrm>
          <a:prstGeom prst="rect">
            <a:avLst/>
          </a:prstGeom>
          <a:noFill/>
        </p:spPr>
        <p:txBody>
          <a:bodyPr wrap="square" lIns="45720" tIns="18288" rIns="45720" bIns="18288" anchor="ctr">
            <a:noAutofit/>
          </a:bodyPr>
          <a:lstStyle/>
          <a:p>
            <a:pPr algn="ctr"/>
            <a:r>
              <a:rPr sz="3800" b="1" i="0">
                <a:solidFill>
                  <a:srgbClr val="FFFFFF"/>
                </a:solidFill>
                <a:latin typeface="Arial"/>
                <a:ea typeface="微软雅黑"/>
              </a:rPr>
              <a:t>CONTENTS</a:t>
            </a:r>
          </a:p>
        </p:txBody>
      </p:sp>
      <p:sp>
        <p:nvSpPr>
          <p:cNvPr id="4" name="TextBox 3"/>
          <p:cNvSpPr txBox="1"/>
          <p:nvPr/>
        </p:nvSpPr>
        <p:spPr>
          <a:xfrm>
            <a:off x="109728" y="3794760"/>
            <a:ext cx="3108960" cy="411480"/>
          </a:xfrm>
          <a:prstGeom prst="rect">
            <a:avLst/>
          </a:prstGeom>
          <a:noFill/>
        </p:spPr>
        <p:txBody>
          <a:bodyPr wrap="square" lIns="45720" tIns="18288" rIns="45720" bIns="18288" anchor="t">
            <a:noAutofit/>
          </a:bodyPr>
          <a:lstStyle/>
          <a:p>
            <a:pPr algn="ctr"/>
            <a:r>
              <a:rPr sz="1800" b="1" i="0">
                <a:solidFill>
                  <a:srgbClr val="BFD1F0"/>
                </a:solidFill>
                <a:latin typeface="Arial"/>
                <a:ea typeface="微软雅黑"/>
              </a:rPr>
              <a:t>ELATE</a:t>
            </a:r>
          </a:p>
        </p:txBody>
      </p:sp>
      <p:pic>
        <p:nvPicPr>
          <p:cNvPr id="5" name="Picture 4"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6" name="Rounded Rectangle 5"/>
          <p:cNvSpPr/>
          <p:nvPr/>
        </p:nvSpPr>
        <p:spPr>
          <a:xfrm>
            <a:off x="4526280" y="1600200"/>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01</a:t>
            </a:r>
          </a:p>
        </p:txBody>
      </p:sp>
      <p:sp>
        <p:nvSpPr>
          <p:cNvPr id="7" name="Rounded Rectangle 6"/>
          <p:cNvSpPr/>
          <p:nvPr/>
        </p:nvSpPr>
        <p:spPr>
          <a:xfrm>
            <a:off x="5577840" y="1600200"/>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Introduction</a:t>
            </a:r>
          </a:p>
        </p:txBody>
      </p:sp>
      <p:sp>
        <p:nvSpPr>
          <p:cNvPr id="8" name="Rounded Rectangle 7"/>
          <p:cNvSpPr/>
          <p:nvPr/>
        </p:nvSpPr>
        <p:spPr>
          <a:xfrm>
            <a:off x="4526280" y="2532888"/>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02</a:t>
            </a:r>
          </a:p>
        </p:txBody>
      </p:sp>
      <p:sp>
        <p:nvSpPr>
          <p:cNvPr id="9" name="Rounded Rectangle 8"/>
          <p:cNvSpPr/>
          <p:nvPr/>
        </p:nvSpPr>
        <p:spPr>
          <a:xfrm>
            <a:off x="5577840" y="2532888"/>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Problem Formulation</a:t>
            </a:r>
          </a:p>
        </p:txBody>
      </p:sp>
      <p:sp>
        <p:nvSpPr>
          <p:cNvPr id="10" name="Rounded Rectangle 9"/>
          <p:cNvSpPr/>
          <p:nvPr/>
        </p:nvSpPr>
        <p:spPr>
          <a:xfrm>
            <a:off x="4526280" y="3465576"/>
            <a:ext cx="502920" cy="50292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03</a:t>
            </a:r>
          </a:p>
        </p:txBody>
      </p:sp>
      <p:sp>
        <p:nvSpPr>
          <p:cNvPr id="11" name="Rounded Rectangle 10"/>
          <p:cNvSpPr/>
          <p:nvPr/>
        </p:nvSpPr>
        <p:spPr>
          <a:xfrm>
            <a:off x="5577840" y="3465576"/>
            <a:ext cx="5394960" cy="502920"/>
          </a:xfrm>
          <a:prstGeom prst="roundRect">
            <a:avLst/>
          </a:prstGeom>
          <a:solidFill>
            <a:srgbClr val="FBE7E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1">
                <a:solidFill>
                  <a:srgbClr val="C00000"/>
                </a:solidFill>
                <a:latin typeface="Arial"/>
                <a:ea typeface="微软雅黑"/>
              </a:rPr>
              <a:t>Proposed ELATE Method</a:t>
            </a:r>
          </a:p>
        </p:txBody>
      </p:sp>
      <p:sp>
        <p:nvSpPr>
          <p:cNvPr id="12" name="Right Arrow 11"/>
          <p:cNvSpPr/>
          <p:nvPr/>
        </p:nvSpPr>
        <p:spPr>
          <a:xfrm>
            <a:off x="3703320" y="3511296"/>
            <a:ext cx="502920" cy="402336"/>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26280" y="4398264"/>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04</a:t>
            </a:r>
          </a:p>
        </p:txBody>
      </p:sp>
      <p:sp>
        <p:nvSpPr>
          <p:cNvPr id="14" name="Rounded Rectangle 13"/>
          <p:cNvSpPr/>
          <p:nvPr/>
        </p:nvSpPr>
        <p:spPr>
          <a:xfrm>
            <a:off x="5577840" y="4398264"/>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Simulation Results</a:t>
            </a:r>
          </a:p>
        </p:txBody>
      </p:sp>
      <p:sp>
        <p:nvSpPr>
          <p:cNvPr id="15" name="Rounded Rectangle 14"/>
          <p:cNvSpPr/>
          <p:nvPr/>
        </p:nvSpPr>
        <p:spPr>
          <a:xfrm>
            <a:off x="4526280" y="5330952"/>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05</a:t>
            </a:r>
          </a:p>
        </p:txBody>
      </p:sp>
      <p:sp>
        <p:nvSpPr>
          <p:cNvPr id="16" name="Rounded Rectangle 15"/>
          <p:cNvSpPr/>
          <p:nvPr/>
        </p:nvSpPr>
        <p:spPr>
          <a:xfrm>
            <a:off x="5577840" y="5330952"/>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Conclusion</a:t>
            </a:r>
          </a:p>
        </p:txBody>
      </p:sp>
      <p:sp>
        <p:nvSpPr>
          <p:cNvPr id="17" name="TextBox 16"/>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Three-Stage Processing Pipeline</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10</a:t>
            </a:r>
          </a:p>
        </p:txBody>
      </p:sp>
      <p:pic>
        <p:nvPicPr>
          <p:cNvPr id="6" name="Picture 5" descr="framework.png"/>
          <p:cNvPicPr>
            <a:picLocks noChangeAspect="1"/>
          </p:cNvPicPr>
          <p:nvPr/>
        </p:nvPicPr>
        <p:blipFill>
          <a:blip r:embed="rId4"/>
          <a:stretch>
            <a:fillRect/>
          </a:stretch>
        </p:blipFill>
        <p:spPr>
          <a:xfrm>
            <a:off x="1123452" y="1051560"/>
            <a:ext cx="9942046" cy="3703320"/>
          </a:xfrm>
          <a:prstGeom prst="rect">
            <a:avLst/>
          </a:prstGeom>
        </p:spPr>
      </p:pic>
      <p:sp>
        <p:nvSpPr>
          <p:cNvPr id="7" name="Rounded Rectangle 6"/>
          <p:cNvSpPr/>
          <p:nvPr/>
        </p:nvSpPr>
        <p:spPr>
          <a:xfrm>
            <a:off x="678027" y="5074920"/>
            <a:ext cx="3429000" cy="566928"/>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700" b="1">
                <a:solidFill>
                  <a:srgbClr val="FFFFFF"/>
                </a:solidFill>
                <a:latin typeface="Arial"/>
                <a:ea typeface="微软雅黑"/>
              </a:rPr>
              <a:t>① Flow Identification</a:t>
            </a:r>
          </a:p>
        </p:txBody>
      </p:sp>
      <p:sp>
        <p:nvSpPr>
          <p:cNvPr id="8" name="Rounded Rectangle 7"/>
          <p:cNvSpPr/>
          <p:nvPr/>
        </p:nvSpPr>
        <p:spPr>
          <a:xfrm>
            <a:off x="4381347" y="5074920"/>
            <a:ext cx="3429000" cy="566928"/>
          </a:xfrm>
          <a:prstGeom prst="round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700" b="1">
                <a:solidFill>
                  <a:srgbClr val="FFFFFF"/>
                </a:solidFill>
                <a:latin typeface="Arial"/>
                <a:ea typeface="微软雅黑"/>
              </a:rPr>
              <a:t>② Flow Embedding + GNN</a:t>
            </a:r>
          </a:p>
        </p:txBody>
      </p:sp>
      <p:sp>
        <p:nvSpPr>
          <p:cNvPr id="9" name="Rounded Rectangle 8"/>
          <p:cNvSpPr/>
          <p:nvPr/>
        </p:nvSpPr>
        <p:spPr>
          <a:xfrm>
            <a:off x="8084667" y="5074920"/>
            <a:ext cx="3429000" cy="56692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700" b="1">
                <a:solidFill>
                  <a:srgbClr val="FFFFFF"/>
                </a:solidFill>
                <a:latin typeface="Arial"/>
                <a:ea typeface="微软雅黑"/>
              </a:rPr>
              <a:t>③ Multi-Agent RL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Stage 1: Elephant Flow Identification</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11</a:t>
            </a:r>
          </a:p>
        </p:txBody>
      </p:sp>
      <p:sp>
        <p:nvSpPr>
          <p:cNvPr id="6" name="Rectangle 5"/>
          <p:cNvSpPr/>
          <p:nvPr/>
        </p:nvSpPr>
        <p:spPr>
          <a:xfrm>
            <a:off x="502920" y="1143000"/>
            <a:ext cx="82296"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97280"/>
            <a:ext cx="5029200" cy="420624"/>
          </a:xfrm>
          <a:prstGeom prst="rect">
            <a:avLst/>
          </a:prstGeom>
          <a:noFill/>
        </p:spPr>
        <p:txBody>
          <a:bodyPr wrap="square" lIns="45720" tIns="18288" rIns="45720" bIns="18288" anchor="ctr">
            <a:noAutofit/>
          </a:bodyPr>
          <a:lstStyle/>
          <a:p>
            <a:pPr algn="l"/>
            <a:r>
              <a:rPr sz="2000" b="1" i="0">
                <a:solidFill>
                  <a:srgbClr val="C00000"/>
                </a:solidFill>
                <a:latin typeface="Arial"/>
                <a:ea typeface="微软雅黑"/>
              </a:rPr>
              <a:t>λ-σ Thresholding Rule</a:t>
            </a:r>
          </a:p>
        </p:txBody>
      </p:sp>
      <p:sp>
        <p:nvSpPr>
          <p:cNvPr id="8" name="Rectangle 7"/>
          <p:cNvSpPr/>
          <p:nvPr/>
        </p:nvSpPr>
        <p:spPr>
          <a:xfrm>
            <a:off x="502920" y="1691640"/>
            <a:ext cx="5394960" cy="1828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130552"/>
            <a:ext cx="5394960" cy="9144"/>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6126479"/>
            <a:ext cx="5394960" cy="1828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1737360"/>
            <a:ext cx="5248656" cy="384048"/>
          </a:xfrm>
          <a:prstGeom prst="rect">
            <a:avLst/>
          </a:prstGeom>
          <a:noFill/>
        </p:spPr>
        <p:txBody>
          <a:bodyPr wrap="square" lIns="45720" tIns="18288" rIns="45720" bIns="18288" anchor="ctr">
            <a:noAutofit/>
          </a:bodyPr>
          <a:lstStyle/>
          <a:p>
            <a:pPr algn="l"/>
            <a:r>
              <a:rPr sz="1500" b="1" i="0">
                <a:solidFill>
                  <a:srgbClr val="262626"/>
                </a:solidFill>
                <a:latin typeface="Cambria"/>
                <a:ea typeface="微软雅黑"/>
              </a:rPr>
              <a:t>Algorithm 1: Elephant and Mice Flows Identification</a:t>
            </a:r>
          </a:p>
        </p:txBody>
      </p:sp>
      <p:sp>
        <p:nvSpPr>
          <p:cNvPr id="12" name="TextBox 11"/>
          <p:cNvSpPr txBox="1"/>
          <p:nvPr/>
        </p:nvSpPr>
        <p:spPr>
          <a:xfrm>
            <a:off x="640080" y="2221992"/>
            <a:ext cx="5166360" cy="3831335"/>
          </a:xfrm>
          <a:prstGeom prst="rect">
            <a:avLst/>
          </a:prstGeom>
          <a:noFill/>
        </p:spPr>
        <p:txBody>
          <a:bodyPr wrap="square" lIns="73152" tIns="36576" rIns="73152" bIns="36576" anchor="t">
            <a:noAutofit/>
          </a:bodyPr>
          <a:lstStyle/>
          <a:p>
            <a:pPr algn="l">
              <a:spcAft>
                <a:spcPts val="300"/>
              </a:spcAft>
            </a:pPr>
            <a:r>
              <a:rPr sz="1300" b="0" i="0">
                <a:solidFill>
                  <a:srgbClr val="262626"/>
                </a:solidFill>
                <a:latin typeface="Cambria"/>
                <a:ea typeface="微软雅黑"/>
              </a:rPr>
              <a:t> 1: </a:t>
            </a:r>
            <a:r>
              <a:rPr sz="1300" b="1" i="0">
                <a:solidFill>
                  <a:srgbClr val="262626"/>
                </a:solidFill>
                <a:latin typeface="Cambria"/>
                <a:ea typeface="微软雅黑"/>
              </a:rPr>
              <a:t>Input: </a:t>
            </a:r>
            <a:r>
              <a:rPr sz="1300" b="0" i="0">
                <a:solidFill>
                  <a:srgbClr val="262626"/>
                </a:solidFill>
                <a:latin typeface="Cambria"/>
                <a:ea typeface="微软雅黑"/>
              </a:rPr>
              <a:t>Traffic matrix </a:t>
            </a:r>
            <a:r>
              <a:rPr sz="1300" b="0" i="1">
                <a:solidFill>
                  <a:srgbClr val="262626"/>
                </a:solidFill>
                <a:latin typeface="Cambria"/>
                <a:ea typeface="微软雅黑"/>
              </a:rPr>
              <a:t>F</a:t>
            </a:r>
            <a:r>
              <a:rPr sz="1300" b="0" i="0">
                <a:solidFill>
                  <a:srgbClr val="262626"/>
                </a:solidFill>
                <a:latin typeface="Cambria"/>
                <a:ea typeface="微软雅黑"/>
              </a:rPr>
              <a:t> ∈ ℝ</a:t>
            </a:r>
            <a:r>
              <a:rPr sz="1300" b="0" i="0" baseline="30000">
                <a:solidFill>
                  <a:srgbClr val="262626"/>
                </a:solidFill>
                <a:latin typeface="Cambria"/>
                <a:ea typeface="微软雅黑"/>
              </a:rPr>
              <a:t>|V|×|V|</a:t>
            </a:r>
            <a:r>
              <a:rPr sz="1300" b="0" i="0">
                <a:solidFill>
                  <a:srgbClr val="262626"/>
                </a:solidFill>
                <a:latin typeface="Cambria"/>
                <a:ea typeface="微软雅黑"/>
              </a:rPr>
              <a:t>, hyperparameter </a:t>
            </a:r>
            <a:r>
              <a:rPr sz="1300" b="0" i="1">
                <a:solidFill>
                  <a:srgbClr val="262626"/>
                </a:solidFill>
                <a:latin typeface="Cambria"/>
                <a:ea typeface="微软雅黑"/>
              </a:rPr>
              <a:t>λ</a:t>
            </a:r>
          </a:p>
          <a:p>
            <a:pPr algn="l">
              <a:spcAft>
                <a:spcPts val="300"/>
              </a:spcAft>
            </a:pPr>
            <a:r>
              <a:rPr sz="1300" b="0" i="0">
                <a:solidFill>
                  <a:srgbClr val="262626"/>
                </a:solidFill>
                <a:latin typeface="Cambria"/>
                <a:ea typeface="微软雅黑"/>
              </a:rPr>
              <a:t> 2: </a:t>
            </a:r>
            <a:r>
              <a:rPr sz="1300" b="1" i="0">
                <a:solidFill>
                  <a:srgbClr val="262626"/>
                </a:solidFill>
                <a:latin typeface="Cambria"/>
                <a:ea typeface="微软雅黑"/>
              </a:rPr>
              <a:t>Output: </a:t>
            </a:r>
            <a:r>
              <a:rPr sz="1300" b="0" i="0">
                <a:solidFill>
                  <a:srgbClr val="262626"/>
                </a:solidFill>
                <a:latin typeface="Cambria"/>
                <a:ea typeface="微软雅黑"/>
              </a:rPr>
              <a:t>Elephant flow matrix </a:t>
            </a:r>
            <a:r>
              <a:rPr sz="1300" b="0" i="1">
                <a:solidFill>
                  <a:srgbClr val="262626"/>
                </a:solidFill>
                <a:latin typeface="Cambria"/>
                <a:ea typeface="微软雅黑"/>
              </a:rPr>
              <a:t>F</a:t>
            </a:r>
            <a:r>
              <a:rPr sz="1300" b="0" i="0" baseline="30000">
                <a:solidFill>
                  <a:srgbClr val="262626"/>
                </a:solidFill>
                <a:latin typeface="Cambria"/>
                <a:ea typeface="微软雅黑"/>
              </a:rPr>
              <a:t>(e)</a:t>
            </a:r>
            <a:r>
              <a:rPr sz="1300" b="0" i="0">
                <a:solidFill>
                  <a:srgbClr val="262626"/>
                </a:solidFill>
                <a:latin typeface="Cambria"/>
                <a:ea typeface="微软雅黑"/>
              </a:rPr>
              <a:t>, mice flow matrix </a:t>
            </a:r>
            <a:r>
              <a:rPr sz="1300" b="0" i="1">
                <a:solidFill>
                  <a:srgbClr val="262626"/>
                </a:solidFill>
                <a:latin typeface="Cambria"/>
                <a:ea typeface="微软雅黑"/>
              </a:rPr>
              <a:t>F</a:t>
            </a:r>
            <a:r>
              <a:rPr sz="1300" b="0" i="0" baseline="30000">
                <a:solidFill>
                  <a:srgbClr val="262626"/>
                </a:solidFill>
                <a:latin typeface="Cambria"/>
                <a:ea typeface="微软雅黑"/>
              </a:rPr>
              <a:t>(m)</a:t>
            </a:r>
          </a:p>
          <a:p>
            <a:pPr algn="l">
              <a:spcAft>
                <a:spcPts val="300"/>
              </a:spcAft>
            </a:pPr>
            <a:r>
              <a:rPr sz="1300" b="0" i="0">
                <a:solidFill>
                  <a:srgbClr val="262626"/>
                </a:solidFill>
                <a:latin typeface="Cambria"/>
                <a:ea typeface="微软雅黑"/>
              </a:rPr>
              <a:t> 3: Compute mean </a:t>
            </a:r>
            <a:r>
              <a:rPr sz="1300" b="0" i="1">
                <a:solidFill>
                  <a:srgbClr val="262626"/>
                </a:solidFill>
                <a:latin typeface="Cambria"/>
                <a:ea typeface="微软雅黑"/>
              </a:rPr>
              <a:t>μ</a:t>
            </a:r>
            <a:r>
              <a:rPr sz="1300" b="0" i="0">
                <a:solidFill>
                  <a:srgbClr val="262626"/>
                </a:solidFill>
                <a:latin typeface="Cambria"/>
                <a:ea typeface="微软雅黑"/>
              </a:rPr>
              <a:t> and standard deviation </a:t>
            </a:r>
            <a:r>
              <a:rPr sz="1300" b="0" i="1">
                <a:solidFill>
                  <a:srgbClr val="262626"/>
                </a:solidFill>
                <a:latin typeface="Cambria"/>
                <a:ea typeface="微软雅黑"/>
              </a:rPr>
              <a:t>σ</a:t>
            </a:r>
            <a:r>
              <a:rPr sz="1300" b="0" i="0">
                <a:solidFill>
                  <a:srgbClr val="262626"/>
                </a:solidFill>
                <a:latin typeface="Cambria"/>
                <a:ea typeface="微软雅黑"/>
              </a:rPr>
              <a:t> of </a:t>
            </a:r>
            <a:r>
              <a:rPr sz="1300" b="0" i="1">
                <a:solidFill>
                  <a:srgbClr val="262626"/>
                </a:solidFill>
                <a:latin typeface="Cambria"/>
                <a:ea typeface="微软雅黑"/>
              </a:rPr>
              <a:t>F</a:t>
            </a:r>
          </a:p>
          <a:p>
            <a:pPr algn="l">
              <a:spcAft>
                <a:spcPts val="300"/>
              </a:spcAft>
            </a:pPr>
            <a:r>
              <a:rPr sz="1300" b="0" i="0">
                <a:solidFill>
                  <a:srgbClr val="262626"/>
                </a:solidFill>
                <a:latin typeface="Cambria"/>
                <a:ea typeface="微软雅黑"/>
              </a:rPr>
              <a:t> 4: Set the identification threshold </a:t>
            </a:r>
            <a:r>
              <a:rPr sz="1300" b="0" i="1">
                <a:solidFill>
                  <a:srgbClr val="262626"/>
                </a:solidFill>
                <a:latin typeface="Cambria"/>
                <a:ea typeface="微软雅黑"/>
              </a:rPr>
              <a:t>τ ← μ + λσ</a:t>
            </a:r>
          </a:p>
          <a:p>
            <a:pPr algn="l">
              <a:spcAft>
                <a:spcPts val="300"/>
              </a:spcAft>
            </a:pPr>
            <a:r>
              <a:rPr sz="1300" b="0" i="0">
                <a:solidFill>
                  <a:srgbClr val="262626"/>
                </a:solidFill>
                <a:latin typeface="Cambria"/>
                <a:ea typeface="微软雅黑"/>
              </a:rPr>
              <a:t> 5: Initialize </a:t>
            </a:r>
            <a:r>
              <a:rPr sz="1300" b="0" i="1">
                <a:solidFill>
                  <a:srgbClr val="262626"/>
                </a:solidFill>
                <a:latin typeface="Cambria"/>
                <a:ea typeface="微软雅黑"/>
              </a:rPr>
              <a:t>F</a:t>
            </a:r>
            <a:r>
              <a:rPr sz="1300" b="0" i="0" baseline="30000">
                <a:solidFill>
                  <a:srgbClr val="262626"/>
                </a:solidFill>
                <a:latin typeface="Cambria"/>
                <a:ea typeface="微软雅黑"/>
              </a:rPr>
              <a:t>(e)</a:t>
            </a:r>
            <a:r>
              <a:rPr sz="1300" b="0" i="0">
                <a:solidFill>
                  <a:srgbClr val="262626"/>
                </a:solidFill>
                <a:latin typeface="Cambria"/>
                <a:ea typeface="微软雅黑"/>
              </a:rPr>
              <a:t> ← 0</a:t>
            </a:r>
            <a:r>
              <a:rPr sz="1300" b="0" i="0" baseline="30000">
                <a:solidFill>
                  <a:srgbClr val="262626"/>
                </a:solidFill>
                <a:latin typeface="Cambria"/>
                <a:ea typeface="微软雅黑"/>
              </a:rPr>
              <a:t>|V|×|V|</a:t>
            </a:r>
            <a:r>
              <a:rPr sz="1300" b="0" i="0">
                <a:solidFill>
                  <a:srgbClr val="262626"/>
                </a:solidFill>
                <a:latin typeface="Cambria"/>
                <a:ea typeface="微软雅黑"/>
              </a:rPr>
              <a:t>, </a:t>
            </a:r>
            <a:r>
              <a:rPr sz="1300" b="0" i="1">
                <a:solidFill>
                  <a:srgbClr val="262626"/>
                </a:solidFill>
                <a:latin typeface="Cambria"/>
                <a:ea typeface="微软雅黑"/>
              </a:rPr>
              <a:t>F</a:t>
            </a:r>
            <a:r>
              <a:rPr sz="1300" b="0" i="0" baseline="30000">
                <a:solidFill>
                  <a:srgbClr val="262626"/>
                </a:solidFill>
                <a:latin typeface="Cambria"/>
                <a:ea typeface="微软雅黑"/>
              </a:rPr>
              <a:t>(m)</a:t>
            </a:r>
            <a:r>
              <a:rPr sz="1300" b="0" i="0">
                <a:solidFill>
                  <a:srgbClr val="262626"/>
                </a:solidFill>
                <a:latin typeface="Cambria"/>
                <a:ea typeface="微软雅黑"/>
              </a:rPr>
              <a:t> ← 0</a:t>
            </a:r>
            <a:r>
              <a:rPr sz="1300" b="0" i="0" baseline="30000">
                <a:solidFill>
                  <a:srgbClr val="262626"/>
                </a:solidFill>
                <a:latin typeface="Cambria"/>
                <a:ea typeface="微软雅黑"/>
              </a:rPr>
              <a:t>|V|×|V|</a:t>
            </a:r>
          </a:p>
          <a:p>
            <a:pPr algn="l">
              <a:spcAft>
                <a:spcPts val="300"/>
              </a:spcAft>
            </a:pPr>
            <a:r>
              <a:rPr sz="1300" b="0" i="0">
                <a:solidFill>
                  <a:srgbClr val="262626"/>
                </a:solidFill>
                <a:latin typeface="Cambria"/>
                <a:ea typeface="微软雅黑"/>
              </a:rPr>
              <a:t> 6: </a:t>
            </a:r>
            <a:r>
              <a:rPr sz="1300" b="1" i="0">
                <a:solidFill>
                  <a:srgbClr val="262626"/>
                </a:solidFill>
                <a:latin typeface="Cambria"/>
                <a:ea typeface="微软雅黑"/>
              </a:rPr>
              <a:t>for</a:t>
            </a:r>
            <a:r>
              <a:rPr sz="1300" b="0" i="0">
                <a:solidFill>
                  <a:srgbClr val="262626"/>
                </a:solidFill>
                <a:latin typeface="Cambria"/>
                <a:ea typeface="微软雅黑"/>
              </a:rPr>
              <a:t> </a:t>
            </a:r>
            <a:r>
              <a:rPr sz="1300" b="0" i="1">
                <a:solidFill>
                  <a:srgbClr val="262626"/>
                </a:solidFill>
                <a:latin typeface="Cambria"/>
                <a:ea typeface="微软雅黑"/>
              </a:rPr>
              <a:t>i</a:t>
            </a:r>
            <a:r>
              <a:rPr sz="1300" b="0" i="0">
                <a:solidFill>
                  <a:srgbClr val="262626"/>
                </a:solidFill>
                <a:latin typeface="Cambria"/>
                <a:ea typeface="微软雅黑"/>
              </a:rPr>
              <a:t> = 1 </a:t>
            </a:r>
            <a:r>
              <a:rPr sz="1300" b="1" i="0">
                <a:solidFill>
                  <a:srgbClr val="262626"/>
                </a:solidFill>
                <a:latin typeface="Cambria"/>
                <a:ea typeface="微软雅黑"/>
              </a:rPr>
              <a:t>to</a:t>
            </a:r>
            <a:r>
              <a:rPr sz="1300" b="0" i="0">
                <a:solidFill>
                  <a:srgbClr val="262626"/>
                </a:solidFill>
                <a:latin typeface="Cambria"/>
                <a:ea typeface="微软雅黑"/>
              </a:rPr>
              <a:t> |</a:t>
            </a:r>
            <a:r>
              <a:rPr sz="1300" b="0" i="1">
                <a:solidFill>
                  <a:srgbClr val="262626"/>
                </a:solidFill>
                <a:latin typeface="Cambria"/>
                <a:ea typeface="微软雅黑"/>
              </a:rPr>
              <a:t>V</a:t>
            </a:r>
            <a:r>
              <a:rPr sz="1300" b="0" i="0">
                <a:solidFill>
                  <a:srgbClr val="262626"/>
                </a:solidFill>
                <a:latin typeface="Cambria"/>
                <a:ea typeface="微软雅黑"/>
              </a:rPr>
              <a:t>| </a:t>
            </a:r>
            <a:r>
              <a:rPr sz="1300" b="1" i="0">
                <a:solidFill>
                  <a:srgbClr val="262626"/>
                </a:solidFill>
                <a:latin typeface="Cambria"/>
                <a:ea typeface="微软雅黑"/>
              </a:rPr>
              <a:t>do</a:t>
            </a:r>
          </a:p>
          <a:p>
            <a:pPr algn="l">
              <a:spcAft>
                <a:spcPts val="300"/>
              </a:spcAft>
            </a:pPr>
            <a:r>
              <a:rPr sz="1300" b="0" i="0">
                <a:solidFill>
                  <a:srgbClr val="262626"/>
                </a:solidFill>
                <a:latin typeface="Cambria"/>
                <a:ea typeface="微软雅黑"/>
              </a:rPr>
              <a:t> 7:   </a:t>
            </a:r>
            <a:r>
              <a:rPr sz="1300" b="1" i="0">
                <a:solidFill>
                  <a:srgbClr val="262626"/>
                </a:solidFill>
                <a:latin typeface="Cambria"/>
                <a:ea typeface="微软雅黑"/>
              </a:rPr>
              <a:t>for</a:t>
            </a:r>
            <a:r>
              <a:rPr sz="1300" b="0" i="0">
                <a:solidFill>
                  <a:srgbClr val="262626"/>
                </a:solidFill>
                <a:latin typeface="Cambria"/>
                <a:ea typeface="微软雅黑"/>
              </a:rPr>
              <a:t> </a:t>
            </a:r>
            <a:r>
              <a:rPr sz="1300" b="0" i="1">
                <a:solidFill>
                  <a:srgbClr val="262626"/>
                </a:solidFill>
                <a:latin typeface="Cambria"/>
                <a:ea typeface="微软雅黑"/>
              </a:rPr>
              <a:t>j</a:t>
            </a:r>
            <a:r>
              <a:rPr sz="1300" b="0" i="0">
                <a:solidFill>
                  <a:srgbClr val="262626"/>
                </a:solidFill>
                <a:latin typeface="Cambria"/>
                <a:ea typeface="微软雅黑"/>
              </a:rPr>
              <a:t> = 1 </a:t>
            </a:r>
            <a:r>
              <a:rPr sz="1300" b="1" i="0">
                <a:solidFill>
                  <a:srgbClr val="262626"/>
                </a:solidFill>
                <a:latin typeface="Cambria"/>
                <a:ea typeface="微软雅黑"/>
              </a:rPr>
              <a:t>to</a:t>
            </a:r>
            <a:r>
              <a:rPr sz="1300" b="0" i="0">
                <a:solidFill>
                  <a:srgbClr val="262626"/>
                </a:solidFill>
                <a:latin typeface="Cambria"/>
                <a:ea typeface="微软雅黑"/>
              </a:rPr>
              <a:t> |</a:t>
            </a:r>
            <a:r>
              <a:rPr sz="1300" b="0" i="1">
                <a:solidFill>
                  <a:srgbClr val="262626"/>
                </a:solidFill>
                <a:latin typeface="Cambria"/>
                <a:ea typeface="微软雅黑"/>
              </a:rPr>
              <a:t>V</a:t>
            </a:r>
            <a:r>
              <a:rPr sz="1300" b="0" i="0">
                <a:solidFill>
                  <a:srgbClr val="262626"/>
                </a:solidFill>
                <a:latin typeface="Cambria"/>
                <a:ea typeface="微软雅黑"/>
              </a:rPr>
              <a:t>| </a:t>
            </a:r>
            <a:r>
              <a:rPr sz="1300" b="1" i="0">
                <a:solidFill>
                  <a:srgbClr val="262626"/>
                </a:solidFill>
                <a:latin typeface="Cambria"/>
                <a:ea typeface="微软雅黑"/>
              </a:rPr>
              <a:t>do</a:t>
            </a:r>
          </a:p>
          <a:p>
            <a:pPr algn="l">
              <a:spcAft>
                <a:spcPts val="300"/>
              </a:spcAft>
            </a:pPr>
            <a:r>
              <a:rPr sz="1300" b="0" i="0">
                <a:solidFill>
                  <a:srgbClr val="262626"/>
                </a:solidFill>
                <a:latin typeface="Cambria"/>
                <a:ea typeface="微软雅黑"/>
              </a:rPr>
              <a:t> 8:     </a:t>
            </a:r>
            <a:r>
              <a:rPr sz="1300" b="1" i="0">
                <a:solidFill>
                  <a:srgbClr val="262626"/>
                </a:solidFill>
                <a:latin typeface="Cambria"/>
                <a:ea typeface="微软雅黑"/>
              </a:rPr>
              <a:t>if</a:t>
            </a:r>
            <a:r>
              <a:rPr sz="1300" b="0" i="0">
                <a:solidFill>
                  <a:srgbClr val="262626"/>
                </a:solidFill>
                <a:latin typeface="Cambria"/>
                <a:ea typeface="微软雅黑"/>
              </a:rPr>
              <a:t> </a:t>
            </a:r>
            <a:r>
              <a:rPr sz="1300" b="0" i="1">
                <a:solidFill>
                  <a:srgbClr val="262626"/>
                </a:solidFill>
                <a:latin typeface="Cambria"/>
                <a:ea typeface="微软雅黑"/>
              </a:rPr>
              <a:t>F</a:t>
            </a:r>
            <a:r>
              <a:rPr sz="1300" b="0" i="1" baseline="-25000">
                <a:solidFill>
                  <a:srgbClr val="262626"/>
                </a:solidFill>
                <a:latin typeface="Cambria"/>
                <a:ea typeface="微软雅黑"/>
              </a:rPr>
              <a:t>i,j</a:t>
            </a:r>
            <a:r>
              <a:rPr sz="1300" b="0" i="0">
                <a:solidFill>
                  <a:srgbClr val="262626"/>
                </a:solidFill>
                <a:latin typeface="Cambria"/>
                <a:ea typeface="微软雅黑"/>
              </a:rPr>
              <a:t> ≥ </a:t>
            </a:r>
            <a:r>
              <a:rPr sz="1300" b="0" i="1">
                <a:solidFill>
                  <a:srgbClr val="262626"/>
                </a:solidFill>
                <a:latin typeface="Cambria"/>
                <a:ea typeface="微软雅黑"/>
              </a:rPr>
              <a:t>τ</a:t>
            </a:r>
            <a:r>
              <a:rPr sz="1300" b="0" i="0">
                <a:solidFill>
                  <a:srgbClr val="262626"/>
                </a:solidFill>
                <a:latin typeface="Cambria"/>
                <a:ea typeface="微软雅黑"/>
              </a:rPr>
              <a:t> </a:t>
            </a:r>
            <a:r>
              <a:rPr sz="1300" b="1" i="0">
                <a:solidFill>
                  <a:srgbClr val="262626"/>
                </a:solidFill>
                <a:latin typeface="Cambria"/>
                <a:ea typeface="微软雅黑"/>
              </a:rPr>
              <a:t>then</a:t>
            </a:r>
          </a:p>
          <a:p>
            <a:pPr algn="l">
              <a:spcAft>
                <a:spcPts val="300"/>
              </a:spcAft>
            </a:pPr>
            <a:r>
              <a:rPr sz="1300" b="0" i="0">
                <a:solidFill>
                  <a:srgbClr val="262626"/>
                </a:solidFill>
                <a:latin typeface="Cambria"/>
                <a:ea typeface="微软雅黑"/>
              </a:rPr>
              <a:t> 9:       </a:t>
            </a:r>
            <a:r>
              <a:rPr sz="1300" b="0" i="1">
                <a:solidFill>
                  <a:srgbClr val="262626"/>
                </a:solidFill>
                <a:latin typeface="Cambria"/>
                <a:ea typeface="微软雅黑"/>
              </a:rPr>
              <a:t>F</a:t>
            </a:r>
            <a:r>
              <a:rPr sz="1300" b="0" i="0" baseline="30000">
                <a:solidFill>
                  <a:srgbClr val="262626"/>
                </a:solidFill>
                <a:latin typeface="Cambria"/>
                <a:ea typeface="微软雅黑"/>
              </a:rPr>
              <a:t>(e)</a:t>
            </a:r>
            <a:r>
              <a:rPr sz="1300" b="0" i="1" baseline="-25000">
                <a:solidFill>
                  <a:srgbClr val="262626"/>
                </a:solidFill>
                <a:latin typeface="Cambria"/>
                <a:ea typeface="微软雅黑"/>
              </a:rPr>
              <a:t>i,j</a:t>
            </a:r>
            <a:r>
              <a:rPr sz="1300" b="0" i="0">
                <a:solidFill>
                  <a:srgbClr val="262626"/>
                </a:solidFill>
                <a:latin typeface="Cambria"/>
                <a:ea typeface="微软雅黑"/>
              </a:rPr>
              <a:t> ← </a:t>
            </a:r>
            <a:r>
              <a:rPr sz="1300" b="0" i="1">
                <a:solidFill>
                  <a:srgbClr val="262626"/>
                </a:solidFill>
                <a:latin typeface="Cambria"/>
                <a:ea typeface="微软雅黑"/>
              </a:rPr>
              <a:t>F</a:t>
            </a:r>
            <a:r>
              <a:rPr sz="1300" b="0" i="1" baseline="-25000">
                <a:solidFill>
                  <a:srgbClr val="262626"/>
                </a:solidFill>
                <a:latin typeface="Cambria"/>
                <a:ea typeface="微软雅黑"/>
              </a:rPr>
              <a:t>i,j</a:t>
            </a:r>
          </a:p>
          <a:p>
            <a:pPr algn="l">
              <a:spcAft>
                <a:spcPts val="300"/>
              </a:spcAft>
            </a:pPr>
            <a:r>
              <a:rPr sz="1300" b="0" i="0">
                <a:solidFill>
                  <a:srgbClr val="262626"/>
                </a:solidFill>
                <a:latin typeface="Cambria"/>
                <a:ea typeface="微软雅黑"/>
              </a:rPr>
              <a:t>10:     </a:t>
            </a:r>
            <a:r>
              <a:rPr sz="1300" b="1" i="0">
                <a:solidFill>
                  <a:srgbClr val="262626"/>
                </a:solidFill>
                <a:latin typeface="Cambria"/>
                <a:ea typeface="微软雅黑"/>
              </a:rPr>
              <a:t>else</a:t>
            </a:r>
          </a:p>
          <a:p>
            <a:pPr algn="l">
              <a:spcAft>
                <a:spcPts val="300"/>
              </a:spcAft>
            </a:pPr>
            <a:r>
              <a:rPr sz="1300" b="0" i="0">
                <a:solidFill>
                  <a:srgbClr val="262626"/>
                </a:solidFill>
                <a:latin typeface="Cambria"/>
                <a:ea typeface="微软雅黑"/>
              </a:rPr>
              <a:t>11:       </a:t>
            </a:r>
            <a:r>
              <a:rPr sz="1300" b="0" i="1">
                <a:solidFill>
                  <a:srgbClr val="262626"/>
                </a:solidFill>
                <a:latin typeface="Cambria"/>
                <a:ea typeface="微软雅黑"/>
              </a:rPr>
              <a:t>F</a:t>
            </a:r>
            <a:r>
              <a:rPr sz="1300" b="0" i="0" baseline="30000">
                <a:solidFill>
                  <a:srgbClr val="262626"/>
                </a:solidFill>
                <a:latin typeface="Cambria"/>
                <a:ea typeface="微软雅黑"/>
              </a:rPr>
              <a:t>(m)</a:t>
            </a:r>
            <a:r>
              <a:rPr sz="1300" b="0" i="1" baseline="-25000">
                <a:solidFill>
                  <a:srgbClr val="262626"/>
                </a:solidFill>
                <a:latin typeface="Cambria"/>
                <a:ea typeface="微软雅黑"/>
              </a:rPr>
              <a:t>i,j</a:t>
            </a:r>
            <a:r>
              <a:rPr sz="1300" b="0" i="0">
                <a:solidFill>
                  <a:srgbClr val="262626"/>
                </a:solidFill>
                <a:latin typeface="Cambria"/>
                <a:ea typeface="微软雅黑"/>
              </a:rPr>
              <a:t> ← </a:t>
            </a:r>
            <a:r>
              <a:rPr sz="1300" b="0" i="1">
                <a:solidFill>
                  <a:srgbClr val="262626"/>
                </a:solidFill>
                <a:latin typeface="Cambria"/>
                <a:ea typeface="微软雅黑"/>
              </a:rPr>
              <a:t>F</a:t>
            </a:r>
            <a:r>
              <a:rPr sz="1300" b="0" i="1" baseline="-25000">
                <a:solidFill>
                  <a:srgbClr val="262626"/>
                </a:solidFill>
                <a:latin typeface="Cambria"/>
                <a:ea typeface="微软雅黑"/>
              </a:rPr>
              <a:t>i,j</a:t>
            </a:r>
          </a:p>
          <a:p>
            <a:pPr algn="l">
              <a:spcAft>
                <a:spcPts val="300"/>
              </a:spcAft>
            </a:pPr>
            <a:r>
              <a:rPr sz="1300" b="0" i="0">
                <a:solidFill>
                  <a:srgbClr val="262626"/>
                </a:solidFill>
                <a:latin typeface="Cambria"/>
                <a:ea typeface="微软雅黑"/>
              </a:rPr>
              <a:t>12:     </a:t>
            </a:r>
            <a:r>
              <a:rPr sz="1300" b="1" i="0">
                <a:solidFill>
                  <a:srgbClr val="262626"/>
                </a:solidFill>
                <a:latin typeface="Cambria"/>
                <a:ea typeface="微软雅黑"/>
              </a:rPr>
              <a:t>end if</a:t>
            </a:r>
          </a:p>
          <a:p>
            <a:pPr algn="l">
              <a:spcAft>
                <a:spcPts val="300"/>
              </a:spcAft>
            </a:pPr>
            <a:r>
              <a:rPr sz="1300" b="0" i="0">
                <a:solidFill>
                  <a:srgbClr val="262626"/>
                </a:solidFill>
                <a:latin typeface="Cambria"/>
                <a:ea typeface="微软雅黑"/>
              </a:rPr>
              <a:t>13:   </a:t>
            </a:r>
            <a:r>
              <a:rPr sz="1300" b="1" i="0">
                <a:solidFill>
                  <a:srgbClr val="262626"/>
                </a:solidFill>
                <a:latin typeface="Cambria"/>
                <a:ea typeface="微软雅黑"/>
              </a:rPr>
              <a:t>end for</a:t>
            </a:r>
          </a:p>
          <a:p>
            <a:pPr algn="l">
              <a:spcAft>
                <a:spcPts val="300"/>
              </a:spcAft>
            </a:pPr>
            <a:r>
              <a:rPr sz="1300" b="0" i="0">
                <a:solidFill>
                  <a:srgbClr val="262626"/>
                </a:solidFill>
                <a:latin typeface="Cambria"/>
                <a:ea typeface="微软雅黑"/>
              </a:rPr>
              <a:t>14: </a:t>
            </a:r>
            <a:r>
              <a:rPr sz="1300" b="1" i="0">
                <a:solidFill>
                  <a:srgbClr val="262626"/>
                </a:solidFill>
                <a:latin typeface="Cambria"/>
                <a:ea typeface="微软雅黑"/>
              </a:rPr>
              <a:t>end for</a:t>
            </a:r>
          </a:p>
        </p:txBody>
      </p:sp>
      <p:sp>
        <p:nvSpPr>
          <p:cNvPr id="13" name="Rectangle 12"/>
          <p:cNvSpPr/>
          <p:nvPr/>
        </p:nvSpPr>
        <p:spPr>
          <a:xfrm>
            <a:off x="6080760" y="1143000"/>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81928" y="1097280"/>
            <a:ext cx="530352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Fast Path Instantiation</a:t>
            </a:r>
          </a:p>
        </p:txBody>
      </p:sp>
      <p:sp>
        <p:nvSpPr>
          <p:cNvPr id="15" name="TextBox 14"/>
          <p:cNvSpPr txBox="1"/>
          <p:nvPr/>
        </p:nvSpPr>
        <p:spPr>
          <a:xfrm>
            <a:off x="6080760" y="1691640"/>
            <a:ext cx="5440680" cy="4206240"/>
          </a:xfrm>
          <a:prstGeom prst="rect">
            <a:avLst/>
          </a:prstGeom>
          <a:noFill/>
        </p:spPr>
        <p:txBody>
          <a:bodyPr wrap="square" lIns="73152" tIns="36576" rIns="73152" bIns="36576" anchor="t">
            <a:noAutofit/>
          </a:bodyPr>
          <a:lstStyle/>
          <a:p>
            <a:pPr algn="l">
              <a:spcAft>
                <a:spcPts val="600"/>
              </a:spcAft>
            </a:pPr>
            <a:r>
              <a:rPr sz="1800" b="1" i="0">
                <a:solidFill>
                  <a:srgbClr val="262626"/>
                </a:solidFill>
                <a:latin typeface="Arial"/>
                <a:ea typeface="微软雅黑"/>
              </a:rPr>
              <a:t>Key: </a:t>
            </a:r>
            <a:r>
              <a:rPr sz="1800" b="0" i="0">
                <a:solidFill>
                  <a:srgbClr val="262626"/>
                </a:solidFill>
                <a:latin typeface="Arial"/>
                <a:ea typeface="微软雅黑"/>
              </a:rPr>
              <a:t>the LEO grid has </a:t>
            </a:r>
            <a:r>
              <a:rPr sz="1800" b="0" i="1">
                <a:solidFill>
                  <a:srgbClr val="262626"/>
                </a:solidFill>
                <a:latin typeface="Arial"/>
                <a:ea typeface="微软雅黑"/>
              </a:rPr>
              <a:t>translation invariance</a:t>
            </a:r>
            <a:r>
              <a:rPr sz="1800" b="0" i="0">
                <a:solidFill>
                  <a:srgbClr val="262626"/>
                </a:solidFill>
                <a:latin typeface="Arial"/>
                <a:ea typeface="微软雅黑"/>
              </a:rPr>
              <a:t>.</a:t>
            </a:r>
          </a:p>
          <a:p>
            <a:pPr algn="l">
              <a:spcAft>
                <a:spcPts val="600"/>
              </a:spcAft>
            </a:pPr>
            <a:r>
              <a:rPr sz="1800" b="0" i="0">
                <a:solidFill>
                  <a:srgbClr val="262626"/>
                </a:solidFill>
                <a:latin typeface="Arial"/>
                <a:ea typeface="微软雅黑"/>
              </a:rPr>
              <a:t>Pre-compute paths from a virtual origin to all</a:t>
            </a:r>
          </a:p>
          <a:p>
            <a:pPr algn="l">
              <a:spcAft>
                <a:spcPts val="600"/>
              </a:spcAft>
            </a:pPr>
            <a:r>
              <a:rPr sz="1800" b="0" i="0">
                <a:solidFill>
                  <a:srgbClr val="262626"/>
                </a:solidFill>
                <a:latin typeface="Arial"/>
                <a:ea typeface="微软雅黑"/>
              </a:rPr>
              <a:t>offsets and cache them in set </a:t>
            </a:r>
            <a:r>
              <a:rPr sz="1800" b="0" i="1">
                <a:solidFill>
                  <a:srgbClr val="262626"/>
                </a:solidFill>
                <a:latin typeface="Arial"/>
                <a:ea typeface="微软雅黑"/>
              </a:rPr>
              <a:t>Ω</a:t>
            </a:r>
            <a:r>
              <a:rPr sz="1800" b="0" i="0">
                <a:solidFill>
                  <a:srgbClr val="262626"/>
                </a:solidFill>
                <a:latin typeface="Arial"/>
                <a:ea typeface="微软雅黑"/>
              </a:rPr>
              <a:t>.</a:t>
            </a:r>
          </a:p>
          <a:p>
            <a:pPr algn="l">
              <a:spcAft>
                <a:spcPts val="600"/>
              </a:spcAft>
            </a:pPr>
            <a:r>
              <a:rPr sz="1800" b="0" i="0">
                <a:solidFill>
                  <a:srgbClr val="262626"/>
                </a:solidFill>
                <a:latin typeface="Arial"/>
                <a:ea typeface="微软雅黑"/>
              </a:rPr>
              <a:t>For any source-destination pair, apply a shift:</a:t>
            </a:r>
          </a:p>
          <a:p>
            <a:pPr algn="l">
              <a:spcAft>
                <a:spcPts val="600"/>
              </a:spcAft>
            </a:pPr>
            <a:r>
              <a:rPr sz="2000" b="0" i="1">
                <a:solidFill>
                  <a:srgbClr val="2272AB"/>
                </a:solidFill>
                <a:latin typeface="Arial"/>
                <a:ea typeface="微软雅黑"/>
              </a:rPr>
              <a:t>P</a:t>
            </a:r>
            <a:r>
              <a:rPr sz="2000" b="0" i="1" baseline="-25000">
                <a:solidFill>
                  <a:srgbClr val="2272AB"/>
                </a:solidFill>
                <a:latin typeface="Arial"/>
                <a:ea typeface="微软雅黑"/>
              </a:rPr>
              <a:t>k</a:t>
            </a:r>
            <a:r>
              <a:rPr sz="2000" b="0" i="0">
                <a:solidFill>
                  <a:srgbClr val="2272AB"/>
                </a:solidFill>
                <a:latin typeface="Arial"/>
                <a:ea typeface="微软雅黑"/>
              </a:rPr>
              <a:t>  =  { (</a:t>
            </a:r>
            <a:r>
              <a:rPr sz="2000" b="0" i="1">
                <a:solidFill>
                  <a:srgbClr val="2272AB"/>
                </a:solidFill>
                <a:latin typeface="Arial"/>
                <a:ea typeface="微软雅黑"/>
              </a:rPr>
              <a:t>p</a:t>
            </a:r>
            <a:r>
              <a:rPr sz="2000" b="0" i="0">
                <a:solidFill>
                  <a:srgbClr val="2272AB"/>
                </a:solidFill>
                <a:latin typeface="Arial"/>
                <a:ea typeface="微软雅黑"/>
              </a:rPr>
              <a:t> + </a:t>
            </a:r>
            <a:r>
              <a:rPr sz="2000" b="0" i="1">
                <a:solidFill>
                  <a:srgbClr val="2272AB"/>
                </a:solidFill>
                <a:latin typeface="Arial"/>
                <a:ea typeface="微软雅黑"/>
              </a:rPr>
              <a:t>v</a:t>
            </a:r>
            <a:r>
              <a:rPr sz="2000" b="0" i="1" baseline="-25000">
                <a:solidFill>
                  <a:srgbClr val="2272AB"/>
                </a:solidFill>
                <a:latin typeface="Arial"/>
                <a:ea typeface="微软雅黑"/>
              </a:rPr>
              <a:t>i</a:t>
            </a:r>
            <a:r>
              <a:rPr sz="2000" b="0" i="0">
                <a:solidFill>
                  <a:srgbClr val="2272AB"/>
                </a:solidFill>
                <a:latin typeface="Arial"/>
                <a:ea typeface="微软雅黑"/>
              </a:rPr>
              <a:t> ) mod (</a:t>
            </a:r>
            <a:r>
              <a:rPr sz="2000" b="0" i="1">
                <a:solidFill>
                  <a:srgbClr val="2272AB"/>
                </a:solidFill>
                <a:latin typeface="Arial"/>
                <a:ea typeface="微软雅黑"/>
              </a:rPr>
              <a:t>N</a:t>
            </a:r>
            <a:r>
              <a:rPr sz="2000" b="0" i="0">
                <a:solidFill>
                  <a:srgbClr val="2272AB"/>
                </a:solidFill>
                <a:latin typeface="Arial"/>
                <a:ea typeface="微软雅黑"/>
              </a:rPr>
              <a:t>, </a:t>
            </a:r>
            <a:r>
              <a:rPr sz="2000" b="0" i="1">
                <a:solidFill>
                  <a:srgbClr val="2272AB"/>
                </a:solidFill>
                <a:latin typeface="Arial"/>
                <a:ea typeface="微软雅黑"/>
              </a:rPr>
              <a:t>M</a:t>
            </a:r>
            <a:r>
              <a:rPr sz="2000" b="0" i="0">
                <a:solidFill>
                  <a:srgbClr val="2272AB"/>
                </a:solidFill>
                <a:latin typeface="Arial"/>
                <a:ea typeface="微软雅黑"/>
              </a:rPr>
              <a:t>)  |  </a:t>
            </a:r>
            <a:r>
              <a:rPr sz="2000" b="0" i="1">
                <a:solidFill>
                  <a:srgbClr val="2272AB"/>
                </a:solidFill>
                <a:latin typeface="Arial"/>
                <a:ea typeface="微软雅黑"/>
              </a:rPr>
              <a:t>p</a:t>
            </a:r>
            <a:r>
              <a:rPr sz="2000" b="0" i="0">
                <a:solidFill>
                  <a:srgbClr val="2272AB"/>
                </a:solidFill>
                <a:latin typeface="Arial"/>
                <a:ea typeface="微软雅黑"/>
              </a:rPr>
              <a:t> ∈ </a:t>
            </a:r>
            <a:r>
              <a:rPr sz="2000" b="0" i="1">
                <a:solidFill>
                  <a:srgbClr val="2272AB"/>
                </a:solidFill>
                <a:latin typeface="Arial"/>
                <a:ea typeface="微软雅黑"/>
              </a:rPr>
              <a:t>Ω</a:t>
            </a:r>
            <a:r>
              <a:rPr sz="2000" b="0" i="0">
                <a:solidFill>
                  <a:srgbClr val="2272AB"/>
                </a:solidFill>
                <a:latin typeface="Arial"/>
                <a:ea typeface="微软雅黑"/>
              </a:rPr>
              <a:t> }</a:t>
            </a:r>
          </a:p>
          <a:p>
            <a:pPr algn="l">
              <a:spcAft>
                <a:spcPts val="600"/>
              </a:spcAft>
            </a:pPr>
            <a:r>
              <a:rPr sz="1800" b="1" i="0">
                <a:solidFill>
                  <a:srgbClr val="262626"/>
                </a:solidFill>
                <a:latin typeface="Arial"/>
                <a:ea typeface="微软雅黑"/>
              </a:rPr>
              <a:t>Complexity: </a:t>
            </a:r>
            <a:r>
              <a:rPr sz="1800" b="0" i="1">
                <a:solidFill>
                  <a:srgbClr val="2272AB"/>
                </a:solidFill>
                <a:latin typeface="Arial"/>
                <a:ea typeface="微软雅黑"/>
              </a:rPr>
              <a:t>O</a:t>
            </a:r>
            <a:r>
              <a:rPr sz="1800" b="0" i="0">
                <a:solidFill>
                  <a:srgbClr val="2272AB"/>
                </a:solidFill>
                <a:latin typeface="Arial"/>
                <a:ea typeface="微软雅黑"/>
              </a:rPr>
              <a:t>(|</a:t>
            </a:r>
            <a:r>
              <a:rPr sz="1800" b="0" i="1">
                <a:solidFill>
                  <a:srgbClr val="2272AB"/>
                </a:solidFill>
                <a:latin typeface="Arial"/>
                <a:ea typeface="微软雅黑"/>
              </a:rPr>
              <a:t>V</a:t>
            </a:r>
            <a:r>
              <a:rPr sz="1800" b="0" i="0">
                <a:solidFill>
                  <a:srgbClr val="2272AB"/>
                </a:solidFill>
                <a:latin typeface="Arial"/>
                <a:ea typeface="微软雅黑"/>
              </a:rPr>
              <a:t>|)</a:t>
            </a:r>
            <a:r>
              <a:rPr sz="1800" b="0" i="0">
                <a:solidFill>
                  <a:srgbClr val="262626"/>
                </a:solidFill>
                <a:latin typeface="Arial"/>
                <a:ea typeface="微软雅黑"/>
              </a:rPr>
              <a:t> per flow</a:t>
            </a:r>
          </a:p>
          <a:p>
            <a:pPr algn="l">
              <a:spcAft>
                <a:spcPts val="600"/>
              </a:spcAft>
            </a:pPr>
            <a:r>
              <a:rPr sz="1500" b="0" i="0">
                <a:solidFill>
                  <a:srgbClr val="707070"/>
                </a:solidFill>
                <a:latin typeface="Arial"/>
                <a:ea typeface="微软雅黑"/>
              </a:rPr>
              <a:t>(vs. </a:t>
            </a:r>
            <a:r>
              <a:rPr sz="1500" b="0" i="1">
                <a:solidFill>
                  <a:srgbClr val="707070"/>
                </a:solidFill>
                <a:latin typeface="Arial"/>
                <a:ea typeface="微软雅黑"/>
              </a:rPr>
              <a:t>O</a:t>
            </a:r>
            <a:r>
              <a:rPr sz="1500" b="0" i="0">
                <a:solidFill>
                  <a:srgbClr val="707070"/>
                </a:solidFill>
                <a:latin typeface="Arial"/>
                <a:ea typeface="微软雅黑"/>
              </a:rPr>
              <a:t>(|</a:t>
            </a:r>
            <a:r>
              <a:rPr sz="1500" b="0" i="1">
                <a:solidFill>
                  <a:srgbClr val="707070"/>
                </a:solidFill>
                <a:latin typeface="Arial"/>
                <a:ea typeface="微软雅黑"/>
              </a:rPr>
              <a:t>V</a:t>
            </a:r>
            <a:r>
              <a:rPr sz="1500" b="0" i="0">
                <a:solidFill>
                  <a:srgbClr val="707070"/>
                </a:solidFill>
                <a:latin typeface="Arial"/>
                <a:ea typeface="微软雅黑"/>
              </a:rPr>
              <a:t>|</a:t>
            </a:r>
            <a:r>
              <a:rPr sz="1500" b="0" i="0" baseline="30000">
                <a:solidFill>
                  <a:srgbClr val="707070"/>
                </a:solidFill>
                <a:latin typeface="Arial"/>
                <a:ea typeface="微软雅黑"/>
              </a:rPr>
              <a:t>2</a:t>
            </a:r>
            <a:r>
              <a:rPr sz="1500" b="0" i="0">
                <a:solidFill>
                  <a:srgbClr val="707070"/>
                </a:solidFill>
                <a:latin typeface="Arial"/>
                <a:ea typeface="微软雅黑"/>
              </a:rPr>
              <a:t>) for online all-pairs 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Stage 2: GNN-Derived Flow Embedding</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12</a:t>
            </a:r>
          </a:p>
        </p:txBody>
      </p:sp>
      <p:sp>
        <p:nvSpPr>
          <p:cNvPr id="6" name="Rectangle 5"/>
          <p:cNvSpPr/>
          <p:nvPr/>
        </p:nvSpPr>
        <p:spPr>
          <a:xfrm>
            <a:off x="502920" y="1124712"/>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78992"/>
            <a:ext cx="429768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Time-Dependent Bipartite Graph</a:t>
            </a:r>
          </a:p>
        </p:txBody>
      </p:sp>
      <p:sp>
        <p:nvSpPr>
          <p:cNvPr id="8" name="TextBox 7"/>
          <p:cNvSpPr txBox="1"/>
          <p:nvPr/>
        </p:nvSpPr>
        <p:spPr>
          <a:xfrm>
            <a:off x="640080" y="1554480"/>
            <a:ext cx="4160520" cy="3291840"/>
          </a:xfrm>
          <a:prstGeom prst="rect">
            <a:avLst/>
          </a:prstGeom>
          <a:noFill/>
        </p:spPr>
        <p:txBody>
          <a:bodyPr wrap="square" lIns="73152" tIns="36576" rIns="73152" bIns="36576" anchor="t">
            <a:noAutofit/>
          </a:bodyPr>
          <a:lstStyle/>
          <a:p>
            <a:pPr algn="l">
              <a:spcAft>
                <a:spcPts val="500"/>
              </a:spcAft>
            </a:pPr>
            <a:r>
              <a:rPr sz="2400" b="0" i="1">
                <a:solidFill>
                  <a:srgbClr val="2272AB"/>
                </a:solidFill>
                <a:latin typeface="Arial"/>
                <a:ea typeface="微软雅黑"/>
              </a:rPr>
              <a:t>G</a:t>
            </a:r>
            <a:r>
              <a:rPr sz="2400" b="0" i="1" baseline="-25000">
                <a:solidFill>
                  <a:srgbClr val="2272AB"/>
                </a:solidFill>
                <a:latin typeface="Arial"/>
                <a:ea typeface="微软雅黑"/>
              </a:rPr>
              <a:t>t</a:t>
            </a:r>
            <a:r>
              <a:rPr sz="2400" b="0" i="0">
                <a:solidFill>
                  <a:srgbClr val="2272AB"/>
                </a:solidFill>
                <a:latin typeface="Arial"/>
                <a:ea typeface="微软雅黑"/>
              </a:rPr>
              <a:t> = ( </a:t>
            </a:r>
            <a:r>
              <a:rPr sz="2400" b="0" i="1">
                <a:solidFill>
                  <a:srgbClr val="2272AB"/>
                </a:solidFill>
                <a:latin typeface="Arial"/>
                <a:ea typeface="微软雅黑"/>
              </a:rPr>
              <a:t>E</a:t>
            </a:r>
            <a:r>
              <a:rPr sz="2400" b="0" i="1" baseline="-25000">
                <a:solidFill>
                  <a:srgbClr val="2272AB"/>
                </a:solidFill>
                <a:latin typeface="Arial"/>
                <a:ea typeface="微软雅黑"/>
              </a:rPr>
              <a:t>t</a:t>
            </a:r>
            <a:r>
              <a:rPr sz="2400" b="0" i="0">
                <a:solidFill>
                  <a:srgbClr val="2272AB"/>
                </a:solidFill>
                <a:latin typeface="Arial"/>
                <a:ea typeface="微软雅黑"/>
              </a:rPr>
              <a:t>, </a:t>
            </a:r>
            <a:r>
              <a:rPr sz="2400" b="0" i="1">
                <a:solidFill>
                  <a:srgbClr val="2272AB"/>
                </a:solidFill>
                <a:latin typeface="Arial"/>
                <a:ea typeface="微软雅黑"/>
              </a:rPr>
              <a:t>P</a:t>
            </a:r>
            <a:r>
              <a:rPr sz="2400" b="0" i="1" baseline="-25000">
                <a:solidFill>
                  <a:srgbClr val="2272AB"/>
                </a:solidFill>
                <a:latin typeface="Arial"/>
                <a:ea typeface="微软雅黑"/>
              </a:rPr>
              <a:t>t</a:t>
            </a:r>
            <a:r>
              <a:rPr sz="2400" b="0" i="0">
                <a:solidFill>
                  <a:srgbClr val="2272AB"/>
                </a:solidFill>
                <a:latin typeface="Arial"/>
                <a:ea typeface="微软雅黑"/>
              </a:rPr>
              <a:t>, </a:t>
            </a:r>
            <a:r>
              <a:rPr sz="2400" b="0" i="1">
                <a:solidFill>
                  <a:srgbClr val="2272AB"/>
                </a:solidFill>
                <a:latin typeface="Arial"/>
                <a:ea typeface="微软雅黑"/>
              </a:rPr>
              <a:t>R</a:t>
            </a:r>
            <a:r>
              <a:rPr sz="2400" b="0" i="1" baseline="-25000">
                <a:solidFill>
                  <a:srgbClr val="2272AB"/>
                </a:solidFill>
                <a:latin typeface="Arial"/>
                <a:ea typeface="微软雅黑"/>
              </a:rPr>
              <a:t>t</a:t>
            </a:r>
            <a:r>
              <a:rPr sz="2400" b="0" i="0">
                <a:solidFill>
                  <a:srgbClr val="2272AB"/>
                </a:solidFill>
                <a:latin typeface="Arial"/>
                <a:ea typeface="微软雅黑"/>
              </a:rPr>
              <a:t> )</a:t>
            </a:r>
          </a:p>
          <a:p>
            <a:pPr algn="l">
              <a:spcAft>
                <a:spcPts val="500"/>
              </a:spcAft>
            </a:pPr>
            <a:endParaRPr sz="2400" b="0" i="0">
              <a:solidFill>
                <a:srgbClr val="2272AB"/>
              </a:solidFill>
              <a:latin typeface="Arial"/>
              <a:ea typeface="微软雅黑"/>
            </a:endParaRPr>
          </a:p>
          <a:p>
            <a:pPr algn="l">
              <a:spcAft>
                <a:spcPts val="500"/>
              </a:spcAft>
            </a:pPr>
            <a:r>
              <a:rPr sz="1600" b="0" i="1">
                <a:solidFill>
                  <a:srgbClr val="2272AB"/>
                </a:solidFill>
                <a:latin typeface="Arial"/>
                <a:ea typeface="微软雅黑"/>
              </a:rPr>
              <a:t>E</a:t>
            </a:r>
            <a:r>
              <a:rPr sz="1600" b="0" i="1" baseline="-25000">
                <a:solidFill>
                  <a:srgbClr val="2272AB"/>
                </a:solidFill>
                <a:latin typeface="Arial"/>
                <a:ea typeface="微软雅黑"/>
              </a:rPr>
              <a:t>t</a:t>
            </a:r>
            <a:r>
              <a:rPr sz="1600" b="0" i="0">
                <a:solidFill>
                  <a:srgbClr val="262626"/>
                </a:solidFill>
                <a:latin typeface="Arial"/>
                <a:ea typeface="微软雅黑"/>
              </a:rPr>
              <a:t> — active ISL (link) nodes</a:t>
            </a:r>
          </a:p>
          <a:p>
            <a:pPr algn="l">
              <a:spcAft>
                <a:spcPts val="500"/>
              </a:spcAft>
            </a:pPr>
            <a:r>
              <a:rPr sz="1600" b="0" i="1">
                <a:solidFill>
                  <a:srgbClr val="E67E22"/>
                </a:solidFill>
                <a:latin typeface="Arial"/>
                <a:ea typeface="微软雅黑"/>
              </a:rPr>
              <a:t>P</a:t>
            </a:r>
            <a:r>
              <a:rPr sz="1600" b="0" i="1" baseline="-25000">
                <a:solidFill>
                  <a:srgbClr val="E67E22"/>
                </a:solidFill>
                <a:latin typeface="Arial"/>
                <a:ea typeface="微软雅黑"/>
              </a:rPr>
              <a:t>t</a:t>
            </a:r>
            <a:r>
              <a:rPr sz="1600" b="0" i="0">
                <a:solidFill>
                  <a:srgbClr val="262626"/>
                </a:solidFill>
                <a:latin typeface="Arial"/>
                <a:ea typeface="微软雅黑"/>
              </a:rPr>
              <a:t> — candidate path nodes</a:t>
            </a:r>
          </a:p>
          <a:p>
            <a:pPr algn="l">
              <a:spcAft>
                <a:spcPts val="500"/>
              </a:spcAft>
            </a:pPr>
            <a:r>
              <a:rPr sz="1600" b="0" i="1">
                <a:solidFill>
                  <a:srgbClr val="707070"/>
                </a:solidFill>
                <a:latin typeface="Arial"/>
                <a:ea typeface="微软雅黑"/>
              </a:rPr>
              <a:t>R</a:t>
            </a:r>
            <a:r>
              <a:rPr sz="1600" b="0" i="1" baseline="-25000">
                <a:solidFill>
                  <a:srgbClr val="707070"/>
                </a:solidFill>
                <a:latin typeface="Arial"/>
                <a:ea typeface="微软雅黑"/>
              </a:rPr>
              <a:t>t</a:t>
            </a:r>
            <a:r>
              <a:rPr sz="1600" b="0" i="0">
                <a:solidFill>
                  <a:srgbClr val="262626"/>
                </a:solidFill>
                <a:latin typeface="Arial"/>
                <a:ea typeface="微软雅黑"/>
              </a:rPr>
              <a:t> — link–path inclusion edges</a:t>
            </a:r>
          </a:p>
          <a:p>
            <a:pPr algn="l">
              <a:spcAft>
                <a:spcPts val="500"/>
              </a:spcAft>
            </a:pPr>
            <a:endParaRPr sz="1600" b="0" i="0">
              <a:solidFill>
                <a:srgbClr val="262626"/>
              </a:solidFill>
              <a:latin typeface="Arial"/>
              <a:ea typeface="微软雅黑"/>
            </a:endParaRPr>
          </a:p>
          <a:p>
            <a:pPr algn="l">
              <a:spcAft>
                <a:spcPts val="500"/>
              </a:spcAft>
            </a:pPr>
            <a:r>
              <a:rPr sz="1500" b="0" i="0">
                <a:solidFill>
                  <a:srgbClr val="262626"/>
                </a:solidFill>
                <a:latin typeface="Arial"/>
                <a:ea typeface="微软雅黑"/>
              </a:rPr>
              <a:t>Aggregation operator </a:t>
            </a:r>
            <a:r>
              <a:rPr sz="1500" b="0" i="1">
                <a:solidFill>
                  <a:srgbClr val="262626"/>
                </a:solidFill>
                <a:latin typeface="Arial"/>
                <a:ea typeface="微软雅黑"/>
              </a:rPr>
              <a:t>A</a:t>
            </a:r>
            <a:r>
              <a:rPr sz="1500" b="0" i="1" baseline="-25000">
                <a:solidFill>
                  <a:srgbClr val="262626"/>
                </a:solidFill>
                <a:latin typeface="Arial"/>
                <a:ea typeface="微软雅黑"/>
              </a:rPr>
              <a:t>t</a:t>
            </a:r>
            <a:r>
              <a:rPr sz="1500" b="0" i="0">
                <a:solidFill>
                  <a:srgbClr val="262626"/>
                </a:solidFill>
                <a:latin typeface="Arial"/>
                <a:ea typeface="微软雅黑"/>
              </a:rPr>
              <a:t> sums link</a:t>
            </a:r>
          </a:p>
          <a:p>
            <a:pPr algn="l">
              <a:spcAft>
                <a:spcPts val="500"/>
              </a:spcAft>
            </a:pPr>
            <a:r>
              <a:rPr sz="1500" b="0" i="0">
                <a:solidFill>
                  <a:srgbClr val="262626"/>
                </a:solidFill>
                <a:latin typeface="Arial"/>
                <a:ea typeface="微软雅黑"/>
              </a:rPr>
              <a:t>traffic along each path; </a:t>
            </a:r>
            <a:r>
              <a:rPr sz="1500" b="0" i="1">
                <a:solidFill>
                  <a:srgbClr val="262626"/>
                </a:solidFill>
                <a:latin typeface="Arial"/>
                <a:ea typeface="微软雅黑"/>
              </a:rPr>
              <a:t>A</a:t>
            </a:r>
            <a:r>
              <a:rPr sz="1500" b="0" i="1" baseline="-25000">
                <a:solidFill>
                  <a:srgbClr val="262626"/>
                </a:solidFill>
                <a:latin typeface="Arial"/>
                <a:ea typeface="微软雅黑"/>
              </a:rPr>
              <a:t>t</a:t>
            </a:r>
            <a:r>
              <a:rPr sz="1500" b="0" i="0" baseline="30000">
                <a:solidFill>
                  <a:srgbClr val="262626"/>
                </a:solidFill>
                <a:latin typeface="Arial"/>
                <a:ea typeface="微软雅黑"/>
              </a:rPr>
              <a:t>T</a:t>
            </a:r>
            <a:r>
              <a:rPr sz="1500" b="0" i="0">
                <a:solidFill>
                  <a:srgbClr val="262626"/>
                </a:solidFill>
                <a:latin typeface="Arial"/>
                <a:ea typeface="微软雅黑"/>
              </a:rPr>
              <a:t> gathers the</a:t>
            </a:r>
          </a:p>
          <a:p>
            <a:pPr algn="l">
              <a:spcAft>
                <a:spcPts val="500"/>
              </a:spcAft>
            </a:pPr>
            <a:r>
              <a:rPr sz="1500" b="0" i="0">
                <a:solidFill>
                  <a:srgbClr val="262626"/>
                </a:solidFill>
                <a:latin typeface="Arial"/>
                <a:ea typeface="微软雅黑"/>
              </a:rPr>
              <a:t>congestion of all links on that path.</a:t>
            </a:r>
          </a:p>
        </p:txBody>
      </p:sp>
      <p:sp>
        <p:nvSpPr>
          <p:cNvPr id="9" name="Rectangle 8"/>
          <p:cNvSpPr/>
          <p:nvPr/>
        </p:nvSpPr>
        <p:spPr>
          <a:xfrm>
            <a:off x="4892040" y="1124712"/>
            <a:ext cx="82296"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93207" y="1078992"/>
            <a:ext cx="6583680" cy="420624"/>
          </a:xfrm>
          <a:prstGeom prst="rect">
            <a:avLst/>
          </a:prstGeom>
          <a:noFill/>
        </p:spPr>
        <p:txBody>
          <a:bodyPr wrap="square" lIns="45720" tIns="18288" rIns="45720" bIns="18288" anchor="ctr">
            <a:noAutofit/>
          </a:bodyPr>
          <a:lstStyle/>
          <a:p>
            <a:pPr algn="l"/>
            <a:r>
              <a:rPr sz="2000" b="1" i="0">
                <a:solidFill>
                  <a:srgbClr val="C00000"/>
                </a:solidFill>
                <a:latin typeface="Arial"/>
                <a:ea typeface="微软雅黑"/>
              </a:rPr>
              <a:t>Link–Path Bipartite Graph</a:t>
            </a:r>
          </a:p>
        </p:txBody>
      </p:sp>
      <p:sp>
        <p:nvSpPr>
          <p:cNvPr id="11" name="TextBox 10"/>
          <p:cNvSpPr txBox="1"/>
          <p:nvPr/>
        </p:nvSpPr>
        <p:spPr>
          <a:xfrm>
            <a:off x="4846320" y="1700784"/>
            <a:ext cx="1280160" cy="310896"/>
          </a:xfrm>
          <a:prstGeom prst="rect">
            <a:avLst/>
          </a:prstGeom>
          <a:noFill/>
        </p:spPr>
        <p:txBody>
          <a:bodyPr wrap="square" lIns="73152" tIns="36576" rIns="73152" bIns="36576" anchor="ctr">
            <a:noAutofit/>
          </a:bodyPr>
          <a:lstStyle/>
          <a:p>
            <a:pPr algn="l">
              <a:spcAft>
                <a:spcPts val="600"/>
              </a:spcAft>
            </a:pPr>
            <a:r>
              <a:rPr sz="1300" b="1" i="0">
                <a:solidFill>
                  <a:srgbClr val="2272AB"/>
                </a:solidFill>
                <a:latin typeface="Arial"/>
                <a:ea typeface="微软雅黑"/>
              </a:rPr>
              <a:t>Links  </a:t>
            </a:r>
            <a:r>
              <a:rPr sz="1300" b="0" i="1">
                <a:solidFill>
                  <a:srgbClr val="2272AB"/>
                </a:solidFill>
                <a:latin typeface="Arial"/>
                <a:ea typeface="微软雅黑"/>
              </a:rPr>
              <a:t>E</a:t>
            </a:r>
            <a:r>
              <a:rPr sz="1300" b="0" i="1" baseline="-25000">
                <a:solidFill>
                  <a:srgbClr val="2272AB"/>
                </a:solidFill>
                <a:latin typeface="Arial"/>
                <a:ea typeface="微软雅黑"/>
              </a:rPr>
              <a:t>t</a:t>
            </a:r>
          </a:p>
        </p:txBody>
      </p:sp>
      <p:sp>
        <p:nvSpPr>
          <p:cNvPr id="12" name="TextBox 11"/>
          <p:cNvSpPr txBox="1"/>
          <p:nvPr/>
        </p:nvSpPr>
        <p:spPr>
          <a:xfrm>
            <a:off x="4846320" y="3383280"/>
            <a:ext cx="1280160" cy="310896"/>
          </a:xfrm>
          <a:prstGeom prst="rect">
            <a:avLst/>
          </a:prstGeom>
          <a:noFill/>
        </p:spPr>
        <p:txBody>
          <a:bodyPr wrap="square" lIns="73152" tIns="36576" rIns="73152" bIns="36576" anchor="ctr">
            <a:noAutofit/>
          </a:bodyPr>
          <a:lstStyle/>
          <a:p>
            <a:pPr algn="l">
              <a:spcAft>
                <a:spcPts val="600"/>
              </a:spcAft>
            </a:pPr>
            <a:r>
              <a:rPr sz="1300" b="1" i="0">
                <a:solidFill>
                  <a:srgbClr val="E67E22"/>
                </a:solidFill>
                <a:latin typeface="Arial"/>
                <a:ea typeface="微软雅黑"/>
              </a:rPr>
              <a:t>Paths  </a:t>
            </a:r>
            <a:r>
              <a:rPr sz="1300" b="0" i="1">
                <a:solidFill>
                  <a:srgbClr val="E67E22"/>
                </a:solidFill>
                <a:latin typeface="Arial"/>
                <a:ea typeface="微软雅黑"/>
              </a:rPr>
              <a:t>P</a:t>
            </a:r>
            <a:r>
              <a:rPr sz="1300" b="0" i="1" baseline="-25000">
                <a:solidFill>
                  <a:srgbClr val="E67E22"/>
                </a:solidFill>
                <a:latin typeface="Arial"/>
                <a:ea typeface="微软雅黑"/>
              </a:rPr>
              <a:t>t</a:t>
            </a:r>
          </a:p>
        </p:txBody>
      </p:sp>
      <p:cxnSp>
        <p:nvCxnSpPr>
          <p:cNvPr id="13" name="Connector 12"/>
          <p:cNvCxnSpPr/>
          <p:nvPr/>
        </p:nvCxnSpPr>
        <p:spPr>
          <a:xfrm flipH="1" flipV="1">
            <a:off x="6446520" y="2103120"/>
            <a:ext cx="27432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720840" y="2103120"/>
            <a:ext cx="82296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720840" y="2103120"/>
            <a:ext cx="192024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7543800" y="2103120"/>
            <a:ext cx="640079"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183879" y="2103120"/>
            <a:ext cx="457201"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183879" y="2103120"/>
            <a:ext cx="1554481"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8641080" y="2103120"/>
            <a:ext cx="100584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646920" y="2103120"/>
            <a:ext cx="9144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646920" y="2103120"/>
            <a:ext cx="118872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6446520" y="2103120"/>
            <a:ext cx="457200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9738360" y="2103120"/>
            <a:ext cx="128016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10835640" y="2103120"/>
            <a:ext cx="182880" cy="1691640"/>
          </a:xfrm>
          <a:prstGeom prst="line">
            <a:avLst/>
          </a:prstGeom>
          <a:ln w="1397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190488" y="1847087"/>
            <a:ext cx="512064" cy="512064"/>
          </a:xfrm>
          <a:prstGeom prst="ellipse">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e</a:t>
            </a:r>
            <a:r>
              <a:rPr sz="1300" b="1" i="1" baseline="-25000">
                <a:solidFill>
                  <a:srgbClr val="FFFFFF"/>
                </a:solidFill>
                <a:latin typeface="Arial"/>
                <a:ea typeface="微软雅黑"/>
              </a:rPr>
              <a:t>1</a:t>
            </a:r>
          </a:p>
        </p:txBody>
      </p:sp>
      <p:sp>
        <p:nvSpPr>
          <p:cNvPr id="26" name="Oval 25"/>
          <p:cNvSpPr/>
          <p:nvPr/>
        </p:nvSpPr>
        <p:spPr>
          <a:xfrm>
            <a:off x="7287768" y="1847087"/>
            <a:ext cx="512064" cy="512064"/>
          </a:xfrm>
          <a:prstGeom prst="ellipse">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e</a:t>
            </a:r>
            <a:r>
              <a:rPr sz="1300" b="1" i="1" baseline="-25000">
                <a:solidFill>
                  <a:srgbClr val="FFFFFF"/>
                </a:solidFill>
                <a:latin typeface="Arial"/>
                <a:ea typeface="微软雅黑"/>
              </a:rPr>
              <a:t>2</a:t>
            </a:r>
          </a:p>
        </p:txBody>
      </p:sp>
      <p:sp>
        <p:nvSpPr>
          <p:cNvPr id="27" name="Oval 26"/>
          <p:cNvSpPr/>
          <p:nvPr/>
        </p:nvSpPr>
        <p:spPr>
          <a:xfrm>
            <a:off x="8385048" y="1847087"/>
            <a:ext cx="512064" cy="512064"/>
          </a:xfrm>
          <a:prstGeom prst="ellipse">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e</a:t>
            </a:r>
            <a:r>
              <a:rPr sz="1300" b="1" i="1" baseline="-25000">
                <a:solidFill>
                  <a:srgbClr val="FFFFFF"/>
                </a:solidFill>
                <a:latin typeface="Arial"/>
                <a:ea typeface="微软雅黑"/>
              </a:rPr>
              <a:t>3</a:t>
            </a:r>
          </a:p>
        </p:txBody>
      </p:sp>
      <p:sp>
        <p:nvSpPr>
          <p:cNvPr id="28" name="Oval 27"/>
          <p:cNvSpPr/>
          <p:nvPr/>
        </p:nvSpPr>
        <p:spPr>
          <a:xfrm>
            <a:off x="9482328" y="1847087"/>
            <a:ext cx="512064" cy="512064"/>
          </a:xfrm>
          <a:prstGeom prst="ellipse">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e</a:t>
            </a:r>
            <a:r>
              <a:rPr sz="1300" b="1" i="1" baseline="-25000">
                <a:solidFill>
                  <a:srgbClr val="FFFFFF"/>
                </a:solidFill>
                <a:latin typeface="Arial"/>
                <a:ea typeface="微软雅黑"/>
              </a:rPr>
              <a:t>4</a:t>
            </a:r>
          </a:p>
        </p:txBody>
      </p:sp>
      <p:sp>
        <p:nvSpPr>
          <p:cNvPr id="29" name="Oval 28"/>
          <p:cNvSpPr/>
          <p:nvPr/>
        </p:nvSpPr>
        <p:spPr>
          <a:xfrm>
            <a:off x="10579608" y="1847087"/>
            <a:ext cx="512064" cy="512064"/>
          </a:xfrm>
          <a:prstGeom prst="ellipse">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e</a:t>
            </a:r>
            <a:r>
              <a:rPr sz="1300" b="1" i="1" baseline="-25000">
                <a:solidFill>
                  <a:srgbClr val="FFFFFF"/>
                </a:solidFill>
                <a:latin typeface="Arial"/>
                <a:ea typeface="微软雅黑"/>
              </a:rPr>
              <a:t>5</a:t>
            </a:r>
          </a:p>
        </p:txBody>
      </p:sp>
      <p:sp>
        <p:nvSpPr>
          <p:cNvPr id="30" name="Oval 29"/>
          <p:cNvSpPr/>
          <p:nvPr/>
        </p:nvSpPr>
        <p:spPr>
          <a:xfrm>
            <a:off x="6446520" y="3520440"/>
            <a:ext cx="548640" cy="548640"/>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p</a:t>
            </a:r>
            <a:r>
              <a:rPr sz="1300" b="1" i="1" baseline="-25000">
                <a:solidFill>
                  <a:srgbClr val="FFFFFF"/>
                </a:solidFill>
                <a:latin typeface="Arial"/>
                <a:ea typeface="微软雅黑"/>
              </a:rPr>
              <a:t>1</a:t>
            </a:r>
          </a:p>
        </p:txBody>
      </p:sp>
      <p:sp>
        <p:nvSpPr>
          <p:cNvPr id="31" name="Oval 30"/>
          <p:cNvSpPr/>
          <p:nvPr/>
        </p:nvSpPr>
        <p:spPr>
          <a:xfrm>
            <a:off x="7909559" y="3520440"/>
            <a:ext cx="548640" cy="548640"/>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p</a:t>
            </a:r>
            <a:r>
              <a:rPr sz="1300" b="1" i="1" baseline="-25000">
                <a:solidFill>
                  <a:srgbClr val="FFFFFF"/>
                </a:solidFill>
                <a:latin typeface="Arial"/>
                <a:ea typeface="微软雅黑"/>
              </a:rPr>
              <a:t>2</a:t>
            </a:r>
          </a:p>
        </p:txBody>
      </p:sp>
      <p:sp>
        <p:nvSpPr>
          <p:cNvPr id="32" name="Oval 31"/>
          <p:cNvSpPr/>
          <p:nvPr/>
        </p:nvSpPr>
        <p:spPr>
          <a:xfrm>
            <a:off x="9372600" y="3520440"/>
            <a:ext cx="548640" cy="548640"/>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p</a:t>
            </a:r>
            <a:r>
              <a:rPr sz="1300" b="1" i="1" baseline="-25000">
                <a:solidFill>
                  <a:srgbClr val="FFFFFF"/>
                </a:solidFill>
                <a:latin typeface="Arial"/>
                <a:ea typeface="微软雅黑"/>
              </a:rPr>
              <a:t>3</a:t>
            </a:r>
          </a:p>
        </p:txBody>
      </p:sp>
      <p:sp>
        <p:nvSpPr>
          <p:cNvPr id="33" name="Oval 32"/>
          <p:cNvSpPr/>
          <p:nvPr/>
        </p:nvSpPr>
        <p:spPr>
          <a:xfrm>
            <a:off x="10744200" y="3520440"/>
            <a:ext cx="548640" cy="548640"/>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1300" b="1" i="1">
                <a:solidFill>
                  <a:srgbClr val="FFFFFF"/>
                </a:solidFill>
                <a:latin typeface="Arial"/>
                <a:ea typeface="微软雅黑"/>
              </a:rPr>
              <a:t>p</a:t>
            </a:r>
            <a:r>
              <a:rPr sz="1300" b="1" i="1" baseline="-25000">
                <a:solidFill>
                  <a:srgbClr val="FFFFFF"/>
                </a:solidFill>
                <a:latin typeface="Arial"/>
                <a:ea typeface="微软雅黑"/>
              </a:rPr>
              <a:t>4</a:t>
            </a:r>
          </a:p>
        </p:txBody>
      </p:sp>
      <p:sp>
        <p:nvSpPr>
          <p:cNvPr id="34" name="TextBox 33"/>
          <p:cNvSpPr txBox="1"/>
          <p:nvPr/>
        </p:nvSpPr>
        <p:spPr>
          <a:xfrm>
            <a:off x="4892040" y="4261104"/>
            <a:ext cx="6583680" cy="292608"/>
          </a:xfrm>
          <a:prstGeom prst="rect">
            <a:avLst/>
          </a:prstGeom>
          <a:noFill/>
        </p:spPr>
        <p:txBody>
          <a:bodyPr wrap="square" lIns="73152" tIns="36576" rIns="73152" bIns="36576" anchor="ctr">
            <a:noAutofit/>
          </a:bodyPr>
          <a:lstStyle/>
          <a:p>
            <a:pPr algn="ctr">
              <a:spcAft>
                <a:spcPts val="600"/>
              </a:spcAft>
            </a:pPr>
            <a:r>
              <a:rPr sz="1300" b="0" i="1">
                <a:solidFill>
                  <a:srgbClr val="707070"/>
                </a:solidFill>
                <a:latin typeface="Arial"/>
                <a:ea typeface="微软雅黑"/>
              </a:rPr>
              <a:t>Message passing over R</a:t>
            </a:r>
            <a:r>
              <a:rPr sz="1300" b="0" i="1" baseline="-25000">
                <a:solidFill>
                  <a:srgbClr val="707070"/>
                </a:solidFill>
                <a:latin typeface="Arial"/>
                <a:ea typeface="微软雅黑"/>
              </a:rPr>
              <a:t>t</a:t>
            </a:r>
            <a:r>
              <a:rPr sz="1300" b="0" i="1">
                <a:solidFill>
                  <a:srgbClr val="707070"/>
                </a:solidFill>
                <a:latin typeface="Arial"/>
                <a:ea typeface="微软雅黑"/>
              </a:rPr>
              <a:t> couples interfering links and paths</a:t>
            </a:r>
          </a:p>
        </p:txBody>
      </p:sp>
      <p:sp>
        <p:nvSpPr>
          <p:cNvPr id="35" name="TextBox 34"/>
          <p:cNvSpPr txBox="1"/>
          <p:nvPr/>
        </p:nvSpPr>
        <p:spPr>
          <a:xfrm>
            <a:off x="502920" y="4754880"/>
            <a:ext cx="11183112" cy="274320"/>
          </a:xfrm>
          <a:prstGeom prst="rect">
            <a:avLst/>
          </a:prstGeom>
          <a:noFill/>
        </p:spPr>
        <p:txBody>
          <a:bodyPr wrap="square" lIns="45720" tIns="18288" rIns="45720" bIns="18288" anchor="t">
            <a:noAutofit/>
          </a:bodyPr>
          <a:lstStyle/>
          <a:p>
            <a:pPr algn="ctr"/>
            <a:r>
              <a:rPr sz="1400" b="1" i="0">
                <a:solidFill>
                  <a:srgbClr val="262626"/>
                </a:solidFill>
                <a:latin typeface="Arial"/>
                <a:ea typeface="微软雅黑"/>
              </a:rPr>
              <a:t>Interleaved GNN + DNN layers  (×L)  →  high-fidelity flow embeddings</a:t>
            </a:r>
          </a:p>
        </p:txBody>
      </p:sp>
      <p:sp>
        <p:nvSpPr>
          <p:cNvPr id="36" name="Rounded Rectangle 35"/>
          <p:cNvSpPr/>
          <p:nvPr/>
        </p:nvSpPr>
        <p:spPr>
          <a:xfrm>
            <a:off x="502920" y="5138928"/>
            <a:ext cx="3401568" cy="841248"/>
          </a:xfrm>
          <a:prstGeom prst="round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200"/>
              </a:spcAft>
            </a:pPr>
            <a:r>
              <a:rPr sz="1500" b="1" i="0">
                <a:solidFill>
                  <a:srgbClr val="FFFFFF"/>
                </a:solidFill>
                <a:latin typeface="Arial"/>
                <a:ea typeface="微软雅黑"/>
              </a:rPr>
              <a:t>GNN Layer</a:t>
            </a:r>
          </a:p>
          <a:p>
            <a:pPr algn="ctr">
              <a:spcAft>
                <a:spcPts val="200"/>
              </a:spcAft>
            </a:pPr>
            <a:r>
              <a:rPr sz="1200" b="0" i="0">
                <a:solidFill>
                  <a:srgbClr val="FFFFFF"/>
                </a:solidFill>
                <a:latin typeface="Arial"/>
                <a:ea typeface="微软雅黑"/>
              </a:rPr>
              <a:t>link ↔ path message passing</a:t>
            </a:r>
          </a:p>
        </p:txBody>
      </p:sp>
      <p:sp>
        <p:nvSpPr>
          <p:cNvPr id="37" name="TextBox 36"/>
          <p:cNvSpPr txBox="1"/>
          <p:nvPr/>
        </p:nvSpPr>
        <p:spPr>
          <a:xfrm>
            <a:off x="3904488" y="5138928"/>
            <a:ext cx="502920" cy="841248"/>
          </a:xfrm>
          <a:prstGeom prst="rect">
            <a:avLst/>
          </a:prstGeom>
          <a:noFill/>
        </p:spPr>
        <p:txBody>
          <a:bodyPr wrap="square" lIns="45720" tIns="18288" rIns="45720" bIns="18288" anchor="ctr">
            <a:noAutofit/>
          </a:bodyPr>
          <a:lstStyle/>
          <a:p>
            <a:pPr algn="ctr"/>
            <a:r>
              <a:rPr sz="2000" b="0" i="0">
                <a:solidFill>
                  <a:srgbClr val="C00000"/>
                </a:solidFill>
                <a:latin typeface="Arial"/>
                <a:ea typeface="微软雅黑"/>
              </a:rPr>
              <a:t>▶</a:t>
            </a:r>
          </a:p>
        </p:txBody>
      </p:sp>
      <p:sp>
        <p:nvSpPr>
          <p:cNvPr id="38" name="Rounded Rectangle 37"/>
          <p:cNvSpPr/>
          <p:nvPr/>
        </p:nvSpPr>
        <p:spPr>
          <a:xfrm>
            <a:off x="4407408" y="5138928"/>
            <a:ext cx="3401568" cy="841248"/>
          </a:xfrm>
          <a:prstGeom prst="round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200"/>
              </a:spcAft>
            </a:pPr>
            <a:r>
              <a:rPr sz="1500" b="1" i="0">
                <a:solidFill>
                  <a:srgbClr val="FFFFFF"/>
                </a:solidFill>
                <a:latin typeface="Arial"/>
                <a:ea typeface="微软雅黑"/>
              </a:rPr>
              <a:t>DNN Layer</a:t>
            </a:r>
          </a:p>
          <a:p>
            <a:pPr algn="ctr">
              <a:spcAft>
                <a:spcPts val="200"/>
              </a:spcAft>
            </a:pPr>
            <a:r>
              <a:rPr sz="1200" b="0" i="0">
                <a:solidFill>
                  <a:srgbClr val="FFFFFF"/>
                </a:solidFill>
                <a:latin typeface="Arial"/>
                <a:ea typeface="微软雅黑"/>
              </a:rPr>
              <a:t>enforce  Σ </a:t>
            </a:r>
            <a:r>
              <a:rPr sz="1200" b="0" i="1">
                <a:solidFill>
                  <a:srgbClr val="FFFFFF"/>
                </a:solidFill>
                <a:latin typeface="Arial"/>
                <a:ea typeface="微软雅黑"/>
              </a:rPr>
              <a:t>x</a:t>
            </a:r>
            <a:r>
              <a:rPr sz="1200" b="0" i="1" baseline="-25000">
                <a:solidFill>
                  <a:srgbClr val="FFFFFF"/>
                </a:solidFill>
                <a:latin typeface="Arial"/>
                <a:ea typeface="微软雅黑"/>
              </a:rPr>
              <a:t>k</a:t>
            </a:r>
            <a:r>
              <a:rPr sz="1200" b="0" i="1" baseline="30000">
                <a:solidFill>
                  <a:srgbClr val="FFFFFF"/>
                </a:solidFill>
                <a:latin typeface="Arial"/>
                <a:ea typeface="微软雅黑"/>
              </a:rPr>
              <a:t>p</a:t>
            </a:r>
            <a:r>
              <a:rPr sz="1200" b="0" i="0">
                <a:solidFill>
                  <a:srgbClr val="FFFFFF"/>
                </a:solidFill>
                <a:latin typeface="Arial"/>
                <a:ea typeface="微软雅黑"/>
              </a:rPr>
              <a:t> = 1</a:t>
            </a:r>
          </a:p>
        </p:txBody>
      </p:sp>
      <p:sp>
        <p:nvSpPr>
          <p:cNvPr id="39" name="TextBox 38"/>
          <p:cNvSpPr txBox="1"/>
          <p:nvPr/>
        </p:nvSpPr>
        <p:spPr>
          <a:xfrm>
            <a:off x="7808976" y="5138928"/>
            <a:ext cx="502920" cy="841248"/>
          </a:xfrm>
          <a:prstGeom prst="rect">
            <a:avLst/>
          </a:prstGeom>
          <a:noFill/>
        </p:spPr>
        <p:txBody>
          <a:bodyPr wrap="square" lIns="45720" tIns="18288" rIns="45720" bIns="18288" anchor="ctr">
            <a:noAutofit/>
          </a:bodyPr>
          <a:lstStyle/>
          <a:p>
            <a:pPr algn="ctr"/>
            <a:r>
              <a:rPr sz="2000" b="0" i="0">
                <a:solidFill>
                  <a:srgbClr val="C00000"/>
                </a:solidFill>
                <a:latin typeface="Arial"/>
                <a:ea typeface="微软雅黑"/>
              </a:rPr>
              <a:t>▶</a:t>
            </a:r>
          </a:p>
        </p:txBody>
      </p:sp>
      <p:sp>
        <p:nvSpPr>
          <p:cNvPr id="40" name="Rounded Rectangle 39"/>
          <p:cNvSpPr/>
          <p:nvPr/>
        </p:nvSpPr>
        <p:spPr>
          <a:xfrm>
            <a:off x="8311896" y="5138928"/>
            <a:ext cx="3401568" cy="84124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200"/>
              </a:spcAft>
            </a:pPr>
            <a:r>
              <a:rPr sz="1500" b="1" i="0">
                <a:solidFill>
                  <a:srgbClr val="FFFFFF"/>
                </a:solidFill>
                <a:latin typeface="Arial"/>
                <a:ea typeface="微软雅黑"/>
              </a:rPr>
              <a:t>Flow Embeddings</a:t>
            </a:r>
          </a:p>
          <a:p>
            <a:pPr algn="ctr">
              <a:spcAft>
                <a:spcPts val="200"/>
              </a:spcAft>
            </a:pPr>
            <a:r>
              <a:rPr sz="1200" b="0" i="0">
                <a:solidFill>
                  <a:srgbClr val="FFFFFF"/>
                </a:solidFill>
                <a:latin typeface="Arial"/>
                <a:ea typeface="微软雅黑"/>
              </a:rPr>
              <a:t>state for routing policy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Stage 3: Multi-Agent RL for Routing</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13</a:t>
            </a:r>
          </a:p>
        </p:txBody>
      </p:sp>
      <p:sp>
        <p:nvSpPr>
          <p:cNvPr id="6" name="Rectangle 5"/>
          <p:cNvSpPr/>
          <p:nvPr/>
        </p:nvSpPr>
        <p:spPr>
          <a:xfrm>
            <a:off x="502920" y="1124712"/>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78992"/>
            <a:ext cx="420624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Agent Design</a:t>
            </a:r>
          </a:p>
        </p:txBody>
      </p:sp>
      <p:sp>
        <p:nvSpPr>
          <p:cNvPr id="8" name="TextBox 7"/>
          <p:cNvSpPr txBox="1"/>
          <p:nvPr/>
        </p:nvSpPr>
        <p:spPr>
          <a:xfrm>
            <a:off x="640080" y="1536192"/>
            <a:ext cx="4160520" cy="4389120"/>
          </a:xfrm>
          <a:prstGeom prst="rect">
            <a:avLst/>
          </a:prstGeom>
          <a:noFill/>
        </p:spPr>
        <p:txBody>
          <a:bodyPr wrap="square" lIns="73152" tIns="36576" rIns="73152" bIns="36576" anchor="t">
            <a:noAutofit/>
          </a:bodyPr>
          <a:lstStyle/>
          <a:p>
            <a:pPr algn="l">
              <a:spcAft>
                <a:spcPts val="400"/>
              </a:spcAft>
            </a:pPr>
            <a:r>
              <a:rPr sz="1600" b="0" i="0">
                <a:solidFill>
                  <a:srgbClr val="262626"/>
                </a:solidFill>
                <a:latin typeface="Arial"/>
                <a:ea typeface="微软雅黑"/>
              </a:rPr>
              <a:t>Each elephant flow </a:t>
            </a:r>
            <a:r>
              <a:rPr sz="1600" b="0" i="1">
                <a:solidFill>
                  <a:srgbClr val="262626"/>
                </a:solidFill>
                <a:latin typeface="Arial"/>
                <a:ea typeface="微软雅黑"/>
              </a:rPr>
              <a:t>k</a:t>
            </a:r>
            <a:r>
              <a:rPr sz="1600" b="0" i="0">
                <a:solidFill>
                  <a:srgbClr val="262626"/>
                </a:solidFill>
                <a:latin typeface="Arial"/>
                <a:ea typeface="微软雅黑"/>
              </a:rPr>
              <a:t> = one agent.</a:t>
            </a:r>
          </a:p>
          <a:p>
            <a:pPr algn="l">
              <a:spcAft>
                <a:spcPts val="400"/>
              </a:spcAft>
            </a:pPr>
            <a:endParaRPr sz="1600" b="0" i="0">
              <a:solidFill>
                <a:srgbClr val="262626"/>
              </a:solidFill>
              <a:latin typeface="Arial"/>
              <a:ea typeface="微软雅黑"/>
            </a:endParaRPr>
          </a:p>
          <a:p>
            <a:pPr algn="l">
              <a:spcAft>
                <a:spcPts val="400"/>
              </a:spcAft>
            </a:pPr>
            <a:r>
              <a:rPr sz="1600" b="0" i="0">
                <a:solidFill>
                  <a:srgbClr val="262626"/>
                </a:solidFill>
                <a:latin typeface="Arial"/>
                <a:ea typeface="微软雅黑"/>
              </a:rPr>
              <a:t>Observation — local state </a:t>
            </a:r>
            <a:r>
              <a:rPr sz="1600" b="0" i="1">
                <a:solidFill>
                  <a:srgbClr val="262626"/>
                </a:solidFill>
                <a:latin typeface="Arial"/>
                <a:ea typeface="微软雅黑"/>
              </a:rPr>
              <a:t>s</a:t>
            </a:r>
            <a:r>
              <a:rPr sz="1600" b="0" i="1" baseline="-25000">
                <a:solidFill>
                  <a:srgbClr val="262626"/>
                </a:solidFill>
                <a:latin typeface="Arial"/>
                <a:ea typeface="微软雅黑"/>
              </a:rPr>
              <a:t>k</a:t>
            </a:r>
            <a:r>
              <a:rPr sz="1600" b="0" i="1" baseline="30000">
                <a:solidFill>
                  <a:srgbClr val="262626"/>
                </a:solidFill>
                <a:latin typeface="Arial"/>
                <a:ea typeface="微软雅黑"/>
              </a:rPr>
              <a:t>t</a:t>
            </a:r>
            <a:r>
              <a:rPr sz="1600" b="0" i="0">
                <a:solidFill>
                  <a:srgbClr val="262626"/>
                </a:solidFill>
                <a:latin typeface="Arial"/>
                <a:ea typeface="微软雅黑"/>
              </a:rPr>
              <a:t>:</a:t>
            </a:r>
          </a:p>
          <a:p>
            <a:pPr algn="l">
              <a:spcAft>
                <a:spcPts val="400"/>
              </a:spcAft>
            </a:pPr>
            <a:r>
              <a:rPr sz="1400" b="0" i="1">
                <a:solidFill>
                  <a:srgbClr val="707070"/>
                </a:solidFill>
                <a:latin typeface="Arial"/>
                <a:ea typeface="微软雅黑"/>
              </a:rPr>
              <a:t>   candidate-path embeddings from the GNN.</a:t>
            </a:r>
          </a:p>
          <a:p>
            <a:pPr algn="l">
              <a:spcAft>
                <a:spcPts val="400"/>
              </a:spcAft>
            </a:pPr>
            <a:endParaRPr sz="1400" b="0" i="1">
              <a:solidFill>
                <a:srgbClr val="707070"/>
              </a:solidFill>
              <a:latin typeface="Arial"/>
              <a:ea typeface="微软雅黑"/>
            </a:endParaRPr>
          </a:p>
          <a:p>
            <a:pPr algn="l">
              <a:spcAft>
                <a:spcPts val="400"/>
              </a:spcAft>
            </a:pPr>
            <a:r>
              <a:rPr sz="1600" b="0" i="0">
                <a:solidFill>
                  <a:srgbClr val="262626"/>
                </a:solidFill>
                <a:latin typeface="Arial"/>
                <a:ea typeface="微软雅黑"/>
              </a:rPr>
              <a:t>Action — continuous split ratios:</a:t>
            </a:r>
          </a:p>
          <a:p>
            <a:pPr algn="l">
              <a:spcAft>
                <a:spcPts val="400"/>
              </a:spcAft>
            </a:pPr>
            <a:r>
              <a:rPr sz="1600" b="0" i="0">
                <a:solidFill>
                  <a:srgbClr val="262626"/>
                </a:solidFill>
                <a:latin typeface="Arial"/>
                <a:ea typeface="微软雅黑"/>
              </a:rPr>
              <a:t>   </a:t>
            </a:r>
            <a:r>
              <a:rPr sz="1600" b="0" i="1">
                <a:solidFill>
                  <a:srgbClr val="2272AB"/>
                </a:solidFill>
                <a:latin typeface="Arial"/>
                <a:ea typeface="微软雅黑"/>
              </a:rPr>
              <a:t>a</a:t>
            </a:r>
            <a:r>
              <a:rPr sz="1600" b="0" i="1" baseline="-25000">
                <a:solidFill>
                  <a:srgbClr val="2272AB"/>
                </a:solidFill>
                <a:latin typeface="Arial"/>
                <a:ea typeface="微软雅黑"/>
              </a:rPr>
              <a:t>k</a:t>
            </a:r>
            <a:r>
              <a:rPr sz="1600" b="0" i="0">
                <a:solidFill>
                  <a:srgbClr val="2272AB"/>
                </a:solidFill>
                <a:latin typeface="Arial"/>
                <a:ea typeface="微软雅黑"/>
              </a:rPr>
              <a:t> ~ </a:t>
            </a:r>
            <a:r>
              <a:rPr sz="1600" b="0" i="1">
                <a:solidFill>
                  <a:srgbClr val="2272AB"/>
                </a:solidFill>
                <a:latin typeface="Arial"/>
                <a:ea typeface="微软雅黑"/>
              </a:rPr>
              <a:t>π</a:t>
            </a:r>
            <a:r>
              <a:rPr sz="1600" b="0" i="1" baseline="-25000">
                <a:solidFill>
                  <a:srgbClr val="2272AB"/>
                </a:solidFill>
                <a:latin typeface="Arial"/>
                <a:ea typeface="微软雅黑"/>
              </a:rPr>
              <a:t>θ</a:t>
            </a:r>
            <a:r>
              <a:rPr sz="1600" b="0" i="0">
                <a:solidFill>
                  <a:srgbClr val="2272AB"/>
                </a:solidFill>
                <a:latin typeface="Arial"/>
                <a:ea typeface="微软雅黑"/>
              </a:rPr>
              <a:t> ( · | </a:t>
            </a:r>
            <a:r>
              <a:rPr sz="1600" b="0" i="1">
                <a:solidFill>
                  <a:srgbClr val="2272AB"/>
                </a:solidFill>
                <a:latin typeface="Arial"/>
                <a:ea typeface="微软雅黑"/>
              </a:rPr>
              <a:t>s</a:t>
            </a:r>
            <a:r>
              <a:rPr sz="1600" b="0" i="1" baseline="-25000">
                <a:solidFill>
                  <a:srgbClr val="2272AB"/>
                </a:solidFill>
                <a:latin typeface="Arial"/>
                <a:ea typeface="微软雅黑"/>
              </a:rPr>
              <a:t>k</a:t>
            </a:r>
            <a:r>
              <a:rPr sz="1600" b="0" i="1" baseline="30000">
                <a:solidFill>
                  <a:srgbClr val="2272AB"/>
                </a:solidFill>
                <a:latin typeface="Arial"/>
                <a:ea typeface="微软雅黑"/>
              </a:rPr>
              <a:t>t</a:t>
            </a:r>
            <a:r>
              <a:rPr sz="1600" b="0" i="0">
                <a:solidFill>
                  <a:srgbClr val="2272AB"/>
                </a:solidFill>
                <a:latin typeface="Arial"/>
                <a:ea typeface="微软雅黑"/>
              </a:rPr>
              <a:t> )</a:t>
            </a:r>
          </a:p>
          <a:p>
            <a:pPr algn="l">
              <a:spcAft>
                <a:spcPts val="400"/>
              </a:spcAft>
            </a:pPr>
            <a:endParaRPr sz="1600" b="0" i="0">
              <a:solidFill>
                <a:srgbClr val="2272AB"/>
              </a:solidFill>
              <a:latin typeface="Arial"/>
              <a:ea typeface="微软雅黑"/>
            </a:endParaRPr>
          </a:p>
          <a:p>
            <a:pPr algn="l">
              <a:spcAft>
                <a:spcPts val="400"/>
              </a:spcAft>
            </a:pPr>
            <a:r>
              <a:rPr sz="1600" b="0" i="0">
                <a:solidFill>
                  <a:srgbClr val="262626"/>
                </a:solidFill>
                <a:latin typeface="Arial"/>
                <a:ea typeface="微软雅黑"/>
              </a:rPr>
              <a:t>Policy — shared stochastic network </a:t>
            </a:r>
            <a:r>
              <a:rPr sz="1600" b="0" i="1">
                <a:solidFill>
                  <a:srgbClr val="262626"/>
                </a:solidFill>
                <a:latin typeface="Arial"/>
                <a:ea typeface="微软雅黑"/>
              </a:rPr>
              <a:t>θ</a:t>
            </a:r>
            <a:r>
              <a:rPr sz="1600" b="0" i="0">
                <a:solidFill>
                  <a:srgbClr val="262626"/>
                </a:solidFill>
                <a:latin typeface="Arial"/>
                <a:ea typeface="微软雅黑"/>
              </a:rPr>
              <a:t>.</a:t>
            </a:r>
          </a:p>
          <a:p>
            <a:pPr algn="l">
              <a:spcAft>
                <a:spcPts val="400"/>
              </a:spcAft>
            </a:pPr>
            <a:endParaRPr sz="1600" b="0" i="0">
              <a:solidFill>
                <a:srgbClr val="262626"/>
              </a:solidFill>
              <a:latin typeface="Arial"/>
              <a:ea typeface="微软雅黑"/>
            </a:endParaRPr>
          </a:p>
          <a:p>
            <a:pPr algn="l">
              <a:spcAft>
                <a:spcPts val="400"/>
              </a:spcAft>
            </a:pPr>
            <a:r>
              <a:rPr sz="1700" b="1" i="0">
                <a:solidFill>
                  <a:srgbClr val="C00000"/>
                </a:solidFill>
                <a:latin typeface="Arial"/>
                <a:ea typeface="微软雅黑"/>
              </a:rPr>
              <a:t>Global reward:  </a:t>
            </a:r>
            <a:r>
              <a:rPr sz="1900" b="0" i="1">
                <a:solidFill>
                  <a:srgbClr val="C00000"/>
                </a:solidFill>
                <a:latin typeface="Arial"/>
                <a:ea typeface="微软雅黑"/>
              </a:rPr>
              <a:t>R</a:t>
            </a:r>
            <a:r>
              <a:rPr sz="1900" b="0" i="0">
                <a:solidFill>
                  <a:srgbClr val="C00000"/>
                </a:solidFill>
                <a:latin typeface="Arial"/>
                <a:ea typeface="微软雅黑"/>
              </a:rPr>
              <a:t> = −</a:t>
            </a:r>
            <a:r>
              <a:rPr sz="1900" b="0" i="1">
                <a:solidFill>
                  <a:srgbClr val="C00000"/>
                </a:solidFill>
                <a:latin typeface="Arial"/>
                <a:ea typeface="微软雅黑"/>
              </a:rPr>
              <a:t>η</a:t>
            </a:r>
            <a:r>
              <a:rPr sz="1400" b="0" i="0">
                <a:solidFill>
                  <a:srgbClr val="C00000"/>
                </a:solidFill>
                <a:latin typeface="Arial"/>
                <a:ea typeface="微软雅黑"/>
              </a:rPr>
              <a:t>   (min. max-link util.)</a:t>
            </a:r>
          </a:p>
        </p:txBody>
      </p:sp>
      <p:sp>
        <p:nvSpPr>
          <p:cNvPr id="9" name="Rectangle 8"/>
          <p:cNvSpPr/>
          <p:nvPr/>
        </p:nvSpPr>
        <p:spPr>
          <a:xfrm>
            <a:off x="4892040" y="1124712"/>
            <a:ext cx="82296"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93207" y="1078992"/>
            <a:ext cx="6766560" cy="420624"/>
          </a:xfrm>
          <a:prstGeom prst="rect">
            <a:avLst/>
          </a:prstGeom>
          <a:noFill/>
        </p:spPr>
        <p:txBody>
          <a:bodyPr wrap="square" lIns="45720" tIns="18288" rIns="45720" bIns="18288" anchor="ctr">
            <a:noAutofit/>
          </a:bodyPr>
          <a:lstStyle/>
          <a:p>
            <a:pPr algn="l"/>
            <a:r>
              <a:rPr sz="2000" b="1" i="0">
                <a:solidFill>
                  <a:srgbClr val="C00000"/>
                </a:solidFill>
                <a:latin typeface="Arial"/>
                <a:ea typeface="微软雅黑"/>
              </a:rPr>
              <a:t>Centralized Training, Decentralized Execution</a:t>
            </a:r>
          </a:p>
        </p:txBody>
      </p:sp>
      <p:sp>
        <p:nvSpPr>
          <p:cNvPr id="11" name="Rounded Rectangle 10"/>
          <p:cNvSpPr/>
          <p:nvPr/>
        </p:nvSpPr>
        <p:spPr>
          <a:xfrm>
            <a:off x="4892040" y="1645920"/>
            <a:ext cx="5989320" cy="603504"/>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100"/>
              </a:spcAft>
            </a:pPr>
            <a:r>
              <a:rPr sz="1400" b="1" i="0">
                <a:solidFill>
                  <a:srgbClr val="FFFFFF"/>
                </a:solidFill>
                <a:latin typeface="Arial"/>
                <a:ea typeface="微软雅黑"/>
              </a:rPr>
              <a:t>Environment</a:t>
            </a:r>
          </a:p>
          <a:p>
            <a:pPr algn="ctr">
              <a:spcAft>
                <a:spcPts val="100"/>
              </a:spcAft>
            </a:pPr>
            <a:r>
              <a:rPr sz="1200" b="0" i="0">
                <a:solidFill>
                  <a:srgbClr val="FFFFFF"/>
                </a:solidFill>
                <a:latin typeface="Arial"/>
                <a:ea typeface="微软雅黑"/>
              </a:rPr>
              <a:t>LEO topology &amp; traffic matrix  ·  one-step TE interval</a:t>
            </a:r>
          </a:p>
        </p:txBody>
      </p:sp>
      <p:sp>
        <p:nvSpPr>
          <p:cNvPr id="12" name="Down Arrow 11"/>
          <p:cNvSpPr/>
          <p:nvPr/>
        </p:nvSpPr>
        <p:spPr>
          <a:xfrm>
            <a:off x="5394959" y="2267712"/>
            <a:ext cx="310896" cy="384048"/>
          </a:xfrm>
          <a:prstGeom prst="downArrow">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0" y="2304288"/>
            <a:ext cx="2011680" cy="292608"/>
          </a:xfrm>
          <a:prstGeom prst="rect">
            <a:avLst/>
          </a:prstGeom>
          <a:noFill/>
        </p:spPr>
        <p:txBody>
          <a:bodyPr wrap="square" lIns="73152" tIns="36576" rIns="73152" bIns="36576" anchor="ctr">
            <a:noAutofit/>
          </a:bodyPr>
          <a:lstStyle/>
          <a:p>
            <a:pPr algn="l">
              <a:spcAft>
                <a:spcPts val="600"/>
              </a:spcAft>
            </a:pPr>
            <a:r>
              <a:rPr sz="1200" b="0" i="1">
                <a:solidFill>
                  <a:srgbClr val="707070"/>
                </a:solidFill>
                <a:latin typeface="Arial"/>
                <a:ea typeface="微软雅黑"/>
              </a:rPr>
              <a:t>state  s</a:t>
            </a:r>
            <a:r>
              <a:rPr sz="1200" b="0" i="1" baseline="-25000">
                <a:solidFill>
                  <a:srgbClr val="707070"/>
                </a:solidFill>
                <a:latin typeface="Arial"/>
                <a:ea typeface="微软雅黑"/>
              </a:rPr>
              <a:t>k</a:t>
            </a:r>
            <a:r>
              <a:rPr sz="1200" b="0" i="1" baseline="30000">
                <a:solidFill>
                  <a:srgbClr val="707070"/>
                </a:solidFill>
                <a:latin typeface="Arial"/>
                <a:ea typeface="微软雅黑"/>
              </a:rPr>
              <a:t>t</a:t>
            </a:r>
          </a:p>
        </p:txBody>
      </p:sp>
      <p:sp>
        <p:nvSpPr>
          <p:cNvPr id="14" name="Rounded Rectangle 13"/>
          <p:cNvSpPr/>
          <p:nvPr/>
        </p:nvSpPr>
        <p:spPr>
          <a:xfrm>
            <a:off x="4892040" y="2688336"/>
            <a:ext cx="5989320" cy="1188720"/>
          </a:xfrm>
          <a:prstGeom prst="roundRect">
            <a:avLst/>
          </a:prstGeom>
          <a:solidFill>
            <a:srgbClr val="F2F4F7"/>
          </a:solidFill>
          <a:ln w="15875">
            <a:solidFill>
              <a:srgbClr val="2272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83479" y="2743200"/>
            <a:ext cx="5806440" cy="274320"/>
          </a:xfrm>
          <a:prstGeom prst="rect">
            <a:avLst/>
          </a:prstGeom>
          <a:noFill/>
        </p:spPr>
        <p:txBody>
          <a:bodyPr wrap="square" lIns="73152" tIns="36576" rIns="73152" bIns="36576" anchor="ctr">
            <a:noAutofit/>
          </a:bodyPr>
          <a:lstStyle/>
          <a:p>
            <a:pPr algn="l">
              <a:spcAft>
                <a:spcPts val="600"/>
              </a:spcAft>
            </a:pPr>
            <a:r>
              <a:rPr sz="1200" b="1" i="0">
                <a:solidFill>
                  <a:srgbClr val="2272AB"/>
                </a:solidFill>
                <a:latin typeface="Arial"/>
                <a:ea typeface="微软雅黑"/>
              </a:rPr>
              <a:t>Shared policy network  </a:t>
            </a:r>
            <a:r>
              <a:rPr sz="1200" b="1" i="1">
                <a:solidFill>
                  <a:srgbClr val="2272AB"/>
                </a:solidFill>
                <a:latin typeface="Arial"/>
                <a:ea typeface="微软雅黑"/>
              </a:rPr>
              <a:t>π</a:t>
            </a:r>
            <a:r>
              <a:rPr sz="1200" b="0" i="1" baseline="-25000">
                <a:solidFill>
                  <a:srgbClr val="2272AB"/>
                </a:solidFill>
                <a:latin typeface="Arial"/>
                <a:ea typeface="微软雅黑"/>
              </a:rPr>
              <a:t>θ</a:t>
            </a:r>
            <a:r>
              <a:rPr sz="1200" b="0" i="0">
                <a:solidFill>
                  <a:srgbClr val="2272AB"/>
                </a:solidFill>
                <a:latin typeface="Arial"/>
                <a:ea typeface="微软雅黑"/>
              </a:rPr>
              <a:t>   (parameter sharing)</a:t>
            </a:r>
          </a:p>
        </p:txBody>
      </p:sp>
      <p:sp>
        <p:nvSpPr>
          <p:cNvPr id="16" name="Rounded Rectangle 15"/>
          <p:cNvSpPr/>
          <p:nvPr/>
        </p:nvSpPr>
        <p:spPr>
          <a:xfrm>
            <a:off x="5093207" y="3145536"/>
            <a:ext cx="1298448" cy="548640"/>
          </a:xfrm>
          <a:prstGeom prst="round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FFFFFF"/>
                </a:solidFill>
                <a:latin typeface="Arial"/>
                <a:ea typeface="微软雅黑"/>
              </a:rPr>
              <a:t>Agent 1</a:t>
            </a:r>
          </a:p>
        </p:txBody>
      </p:sp>
      <p:sp>
        <p:nvSpPr>
          <p:cNvPr id="17" name="Rounded Rectangle 16"/>
          <p:cNvSpPr/>
          <p:nvPr/>
        </p:nvSpPr>
        <p:spPr>
          <a:xfrm>
            <a:off x="6556247" y="3145536"/>
            <a:ext cx="1298448" cy="548640"/>
          </a:xfrm>
          <a:prstGeom prst="round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FFFFFF"/>
                </a:solidFill>
                <a:latin typeface="Arial"/>
                <a:ea typeface="微软雅黑"/>
              </a:rPr>
              <a:t>Agent 2</a:t>
            </a:r>
          </a:p>
        </p:txBody>
      </p:sp>
      <p:sp>
        <p:nvSpPr>
          <p:cNvPr id="18" name="Rounded Rectangle 17"/>
          <p:cNvSpPr/>
          <p:nvPr/>
        </p:nvSpPr>
        <p:spPr>
          <a:xfrm>
            <a:off x="8019288" y="3145536"/>
            <a:ext cx="1298448" cy="548640"/>
          </a:xfrm>
          <a:prstGeom prst="roundRect">
            <a:avLst/>
          </a:prstGeom>
          <a:solidFill>
            <a:srgbClr val="FFFFFF"/>
          </a:solidFill>
          <a:ln w="15875">
            <a:solidFill>
              <a:srgbClr val="2272AB"/>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707070"/>
                </a:solidFill>
                <a:latin typeface="Arial"/>
                <a:ea typeface="微软雅黑"/>
              </a:rPr>
              <a:t>· · ·</a:t>
            </a:r>
          </a:p>
        </p:txBody>
      </p:sp>
      <p:sp>
        <p:nvSpPr>
          <p:cNvPr id="19" name="Rounded Rectangle 18"/>
          <p:cNvSpPr/>
          <p:nvPr/>
        </p:nvSpPr>
        <p:spPr>
          <a:xfrm>
            <a:off x="9482328" y="3145536"/>
            <a:ext cx="1298448" cy="548640"/>
          </a:xfrm>
          <a:prstGeom prst="round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a:solidFill>
                  <a:srgbClr val="FFFFFF"/>
                </a:solidFill>
                <a:latin typeface="Arial"/>
                <a:ea typeface="微软雅黑"/>
              </a:rPr>
              <a:t>Agent K</a:t>
            </a:r>
          </a:p>
        </p:txBody>
      </p:sp>
      <p:sp>
        <p:nvSpPr>
          <p:cNvPr id="20" name="Down Arrow 19"/>
          <p:cNvSpPr/>
          <p:nvPr/>
        </p:nvSpPr>
        <p:spPr>
          <a:xfrm>
            <a:off x="5394959" y="3895344"/>
            <a:ext cx="310896" cy="384048"/>
          </a:xfrm>
          <a:prstGeom prst="downArrow">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720" y="3931920"/>
            <a:ext cx="2743200" cy="292608"/>
          </a:xfrm>
          <a:prstGeom prst="rect">
            <a:avLst/>
          </a:prstGeom>
          <a:noFill/>
        </p:spPr>
        <p:txBody>
          <a:bodyPr wrap="square" lIns="73152" tIns="36576" rIns="73152" bIns="36576" anchor="ctr">
            <a:noAutofit/>
          </a:bodyPr>
          <a:lstStyle/>
          <a:p>
            <a:pPr algn="l">
              <a:spcAft>
                <a:spcPts val="600"/>
              </a:spcAft>
            </a:pPr>
            <a:r>
              <a:rPr sz="1200" b="0" i="1">
                <a:solidFill>
                  <a:srgbClr val="707070"/>
                </a:solidFill>
                <a:latin typeface="Arial"/>
                <a:ea typeface="微软雅黑"/>
              </a:rPr>
              <a:t>action  a</a:t>
            </a:r>
            <a:r>
              <a:rPr sz="1200" b="0" i="1" baseline="-25000">
                <a:solidFill>
                  <a:srgbClr val="707070"/>
                </a:solidFill>
                <a:latin typeface="Arial"/>
                <a:ea typeface="微软雅黑"/>
              </a:rPr>
              <a:t>k</a:t>
            </a:r>
            <a:r>
              <a:rPr sz="1200" b="0" i="1">
                <a:solidFill>
                  <a:srgbClr val="707070"/>
                </a:solidFill>
                <a:latin typeface="Arial"/>
                <a:ea typeface="微软雅黑"/>
              </a:rPr>
              <a:t>  (flow-split ratios)</a:t>
            </a:r>
          </a:p>
        </p:txBody>
      </p:sp>
      <p:sp>
        <p:nvSpPr>
          <p:cNvPr id="22" name="Rounded Rectangle 21"/>
          <p:cNvSpPr/>
          <p:nvPr/>
        </p:nvSpPr>
        <p:spPr>
          <a:xfrm>
            <a:off x="4892040" y="4315968"/>
            <a:ext cx="5989320" cy="585216"/>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300"/>
              </a:spcAft>
            </a:pPr>
            <a:r>
              <a:rPr sz="1400" b="1" i="0">
                <a:solidFill>
                  <a:srgbClr val="FFFFFF"/>
                </a:solidFill>
                <a:latin typeface="Arial"/>
                <a:ea typeface="微软雅黑"/>
              </a:rPr>
              <a:t>Global reward   </a:t>
            </a:r>
            <a:r>
              <a:rPr sz="1500" b="0" i="1">
                <a:solidFill>
                  <a:srgbClr val="FFFFFF"/>
                </a:solidFill>
                <a:latin typeface="Arial"/>
                <a:ea typeface="微软雅黑"/>
              </a:rPr>
              <a:t>R</a:t>
            </a:r>
            <a:r>
              <a:rPr sz="1500" b="0" i="0">
                <a:solidFill>
                  <a:srgbClr val="FFFFFF"/>
                </a:solidFill>
                <a:latin typeface="Arial"/>
                <a:ea typeface="微软雅黑"/>
              </a:rPr>
              <a:t> = −</a:t>
            </a:r>
            <a:r>
              <a:rPr sz="1500" b="0" i="1">
                <a:solidFill>
                  <a:srgbClr val="FFFFFF"/>
                </a:solidFill>
                <a:latin typeface="Arial"/>
                <a:ea typeface="微软雅黑"/>
              </a:rPr>
              <a:t>η</a:t>
            </a:r>
            <a:r>
              <a:rPr sz="1200" b="0" i="0">
                <a:solidFill>
                  <a:srgbClr val="FFFFFF"/>
                </a:solidFill>
                <a:latin typeface="Arial"/>
                <a:ea typeface="微软雅黑"/>
              </a:rPr>
              <a:t>   (maximum link utilization)</a:t>
            </a:r>
          </a:p>
        </p:txBody>
      </p:sp>
      <p:sp>
        <p:nvSpPr>
          <p:cNvPr id="23" name="Up Arrow 22"/>
          <p:cNvSpPr/>
          <p:nvPr/>
        </p:nvSpPr>
        <p:spPr>
          <a:xfrm>
            <a:off x="10936224" y="1783080"/>
            <a:ext cx="365760" cy="3017520"/>
          </a:xfrm>
          <a:prstGeom prst="up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892040" y="5102352"/>
            <a:ext cx="6409944" cy="914400"/>
          </a:xfrm>
          <a:prstGeom prst="roundRect">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100"/>
              </a:spcAft>
            </a:pPr>
            <a:r>
              <a:rPr sz="1300" b="1" i="0">
                <a:solidFill>
                  <a:srgbClr val="2E7D32"/>
                </a:solidFill>
                <a:latin typeface="Arial"/>
                <a:ea typeface="微软雅黑"/>
              </a:rPr>
              <a:t>Counterfactual advantage</a:t>
            </a:r>
          </a:p>
          <a:p>
            <a:pPr algn="ctr">
              <a:spcAft>
                <a:spcPts val="100"/>
              </a:spcAft>
            </a:pPr>
            <a:r>
              <a:rPr sz="1200" b="0" i="0">
                <a:solidFill>
                  <a:srgbClr val="262626"/>
                </a:solidFill>
                <a:latin typeface="Arial"/>
                <a:ea typeface="微软雅黑"/>
              </a:rPr>
              <a:t>TE is one-step (no future demands), so return = immediate reward.</a:t>
            </a:r>
          </a:p>
          <a:p>
            <a:pPr algn="ctr">
              <a:spcAft>
                <a:spcPts val="100"/>
              </a:spcAft>
            </a:pPr>
            <a:r>
              <a:rPr sz="1200" b="0" i="1">
                <a:solidFill>
                  <a:srgbClr val="262626"/>
                </a:solidFill>
                <a:latin typeface="Arial"/>
                <a:ea typeface="微软雅黑"/>
              </a:rPr>
              <a:t>N</a:t>
            </a:r>
            <a:r>
              <a:rPr sz="1200" b="0" i="1" baseline="-25000">
                <a:solidFill>
                  <a:srgbClr val="262626"/>
                </a:solidFill>
                <a:latin typeface="Arial"/>
                <a:ea typeface="微软雅黑"/>
              </a:rPr>
              <a:t>s</a:t>
            </a:r>
            <a:r>
              <a:rPr sz="1200" b="0" i="0">
                <a:solidFill>
                  <a:srgbClr val="262626"/>
                </a:solidFill>
                <a:latin typeface="Arial"/>
                <a:ea typeface="微软雅黑"/>
              </a:rPr>
              <a:t> Monte-Carlo samples isolate each agent’s marginal contribution → </a:t>
            </a:r>
            <a:r>
              <a:rPr sz="1200" b="1" i="1">
                <a:solidFill>
                  <a:srgbClr val="262626"/>
                </a:solidFill>
                <a:latin typeface="Arial"/>
                <a:ea typeface="微软雅黑"/>
              </a:rPr>
              <a:t>unbiased gradients</a:t>
            </a:r>
            <a:r>
              <a:rPr sz="1200" b="0" i="0">
                <a:solidFill>
                  <a:srgbClr val="262626"/>
                </a:solidFill>
                <a:latin typeface="Arial"/>
                <a:ea typeface="微软雅黑"/>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328416" cy="6858000"/>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 y="3017520"/>
            <a:ext cx="3108960" cy="731520"/>
          </a:xfrm>
          <a:prstGeom prst="rect">
            <a:avLst/>
          </a:prstGeom>
          <a:noFill/>
        </p:spPr>
        <p:txBody>
          <a:bodyPr wrap="square" lIns="45720" tIns="18288" rIns="45720" bIns="18288" anchor="ctr">
            <a:noAutofit/>
          </a:bodyPr>
          <a:lstStyle/>
          <a:p>
            <a:pPr algn="ctr"/>
            <a:r>
              <a:rPr sz="3800" b="1" i="0">
                <a:solidFill>
                  <a:srgbClr val="FFFFFF"/>
                </a:solidFill>
                <a:latin typeface="Arial"/>
                <a:ea typeface="微软雅黑"/>
              </a:rPr>
              <a:t>CONTENTS</a:t>
            </a:r>
          </a:p>
        </p:txBody>
      </p:sp>
      <p:sp>
        <p:nvSpPr>
          <p:cNvPr id="4" name="TextBox 3"/>
          <p:cNvSpPr txBox="1"/>
          <p:nvPr/>
        </p:nvSpPr>
        <p:spPr>
          <a:xfrm>
            <a:off x="109728" y="3794760"/>
            <a:ext cx="3108960" cy="411480"/>
          </a:xfrm>
          <a:prstGeom prst="rect">
            <a:avLst/>
          </a:prstGeom>
          <a:noFill/>
        </p:spPr>
        <p:txBody>
          <a:bodyPr wrap="square" lIns="45720" tIns="18288" rIns="45720" bIns="18288" anchor="t">
            <a:noAutofit/>
          </a:bodyPr>
          <a:lstStyle/>
          <a:p>
            <a:pPr algn="ctr"/>
            <a:r>
              <a:rPr sz="1800" b="1" i="0">
                <a:solidFill>
                  <a:srgbClr val="BFD1F0"/>
                </a:solidFill>
                <a:latin typeface="Arial"/>
                <a:ea typeface="微软雅黑"/>
              </a:rPr>
              <a:t>ELATE</a:t>
            </a:r>
          </a:p>
        </p:txBody>
      </p:sp>
      <p:pic>
        <p:nvPicPr>
          <p:cNvPr id="5" name="Picture 4"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6" name="Rounded Rectangle 5"/>
          <p:cNvSpPr/>
          <p:nvPr/>
        </p:nvSpPr>
        <p:spPr>
          <a:xfrm>
            <a:off x="4526280" y="1600200"/>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01</a:t>
            </a:r>
          </a:p>
        </p:txBody>
      </p:sp>
      <p:sp>
        <p:nvSpPr>
          <p:cNvPr id="7" name="Rounded Rectangle 6"/>
          <p:cNvSpPr/>
          <p:nvPr/>
        </p:nvSpPr>
        <p:spPr>
          <a:xfrm>
            <a:off x="5577840" y="1600200"/>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Introduction</a:t>
            </a:r>
          </a:p>
        </p:txBody>
      </p:sp>
      <p:sp>
        <p:nvSpPr>
          <p:cNvPr id="8" name="Rounded Rectangle 7"/>
          <p:cNvSpPr/>
          <p:nvPr/>
        </p:nvSpPr>
        <p:spPr>
          <a:xfrm>
            <a:off x="4526280" y="2532888"/>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02</a:t>
            </a:r>
          </a:p>
        </p:txBody>
      </p:sp>
      <p:sp>
        <p:nvSpPr>
          <p:cNvPr id="9" name="Rounded Rectangle 8"/>
          <p:cNvSpPr/>
          <p:nvPr/>
        </p:nvSpPr>
        <p:spPr>
          <a:xfrm>
            <a:off x="5577840" y="2532888"/>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Problem Formulation</a:t>
            </a:r>
          </a:p>
        </p:txBody>
      </p:sp>
      <p:sp>
        <p:nvSpPr>
          <p:cNvPr id="10" name="Rounded Rectangle 9"/>
          <p:cNvSpPr/>
          <p:nvPr/>
        </p:nvSpPr>
        <p:spPr>
          <a:xfrm>
            <a:off x="4526280" y="3465576"/>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03</a:t>
            </a:r>
          </a:p>
        </p:txBody>
      </p:sp>
      <p:sp>
        <p:nvSpPr>
          <p:cNvPr id="11" name="Rounded Rectangle 10"/>
          <p:cNvSpPr/>
          <p:nvPr/>
        </p:nvSpPr>
        <p:spPr>
          <a:xfrm>
            <a:off x="5577840" y="3465576"/>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Proposed ELATE Method</a:t>
            </a:r>
          </a:p>
        </p:txBody>
      </p:sp>
      <p:sp>
        <p:nvSpPr>
          <p:cNvPr id="12" name="Rounded Rectangle 11"/>
          <p:cNvSpPr/>
          <p:nvPr/>
        </p:nvSpPr>
        <p:spPr>
          <a:xfrm>
            <a:off x="4526280" y="4398264"/>
            <a:ext cx="502920" cy="50292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04</a:t>
            </a:r>
          </a:p>
        </p:txBody>
      </p:sp>
      <p:sp>
        <p:nvSpPr>
          <p:cNvPr id="13" name="Rounded Rectangle 12"/>
          <p:cNvSpPr/>
          <p:nvPr/>
        </p:nvSpPr>
        <p:spPr>
          <a:xfrm>
            <a:off x="5577840" y="4398264"/>
            <a:ext cx="5394960" cy="502920"/>
          </a:xfrm>
          <a:prstGeom prst="roundRect">
            <a:avLst/>
          </a:prstGeom>
          <a:solidFill>
            <a:srgbClr val="FBE7E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1">
                <a:solidFill>
                  <a:srgbClr val="C00000"/>
                </a:solidFill>
                <a:latin typeface="Arial"/>
                <a:ea typeface="微软雅黑"/>
              </a:rPr>
              <a:t>Simulation Results</a:t>
            </a:r>
          </a:p>
        </p:txBody>
      </p:sp>
      <p:sp>
        <p:nvSpPr>
          <p:cNvPr id="14" name="Right Arrow 13"/>
          <p:cNvSpPr/>
          <p:nvPr/>
        </p:nvSpPr>
        <p:spPr>
          <a:xfrm>
            <a:off x="3703320" y="4443984"/>
            <a:ext cx="502920" cy="402336"/>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26280" y="5330952"/>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05</a:t>
            </a:r>
          </a:p>
        </p:txBody>
      </p:sp>
      <p:sp>
        <p:nvSpPr>
          <p:cNvPr id="16" name="Rounded Rectangle 15"/>
          <p:cNvSpPr/>
          <p:nvPr/>
        </p:nvSpPr>
        <p:spPr>
          <a:xfrm>
            <a:off x="5577840" y="5330952"/>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Conclusion</a:t>
            </a:r>
          </a:p>
        </p:txBody>
      </p:sp>
      <p:sp>
        <p:nvSpPr>
          <p:cNvPr id="17" name="TextBox 16"/>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Simulation Environment &amp; Settings</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15</a:t>
            </a:r>
          </a:p>
        </p:txBody>
      </p:sp>
      <p:sp>
        <p:nvSpPr>
          <p:cNvPr id="6" name="Rectangle 5"/>
          <p:cNvSpPr/>
          <p:nvPr/>
        </p:nvSpPr>
        <p:spPr>
          <a:xfrm>
            <a:off x="502920" y="1033272"/>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987552"/>
            <a:ext cx="502920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Constellation Model</a:t>
            </a:r>
          </a:p>
        </p:txBody>
      </p:sp>
      <p:sp>
        <p:nvSpPr>
          <p:cNvPr id="8" name="TextBox 7"/>
          <p:cNvSpPr txBox="1"/>
          <p:nvPr/>
        </p:nvSpPr>
        <p:spPr>
          <a:xfrm>
            <a:off x="658368" y="1444752"/>
            <a:ext cx="5394960" cy="1783080"/>
          </a:xfrm>
          <a:prstGeom prst="rect">
            <a:avLst/>
          </a:prstGeom>
          <a:noFill/>
        </p:spPr>
        <p:txBody>
          <a:bodyPr wrap="square" lIns="73152" tIns="36576" rIns="73152" bIns="36576" anchor="t">
            <a:noAutofit/>
          </a:bodyPr>
          <a:lstStyle/>
          <a:p>
            <a:pPr algn="l">
              <a:spcAft>
                <a:spcPts val="400"/>
              </a:spcAft>
            </a:pPr>
            <a:r>
              <a:rPr sz="1500" b="1" i="0" dirty="0">
                <a:solidFill>
                  <a:srgbClr val="C00000"/>
                </a:solidFill>
                <a:latin typeface="Arial"/>
                <a:ea typeface="微软雅黑"/>
              </a:rPr>
              <a:t>Starlink Phase-I, Shell-I</a:t>
            </a:r>
          </a:p>
          <a:p>
            <a:pPr algn="l">
              <a:spcAft>
                <a:spcPts val="400"/>
              </a:spcAft>
            </a:pPr>
            <a:r>
              <a:rPr sz="1400" b="0" i="0" dirty="0">
                <a:solidFill>
                  <a:srgbClr val="262626"/>
                </a:solidFill>
                <a:latin typeface="Arial"/>
                <a:ea typeface="微软雅黑"/>
              </a:rPr>
              <a:t>1,584 satellites  (72 orbits × 22)</a:t>
            </a:r>
          </a:p>
          <a:p>
            <a:pPr algn="l">
              <a:spcAft>
                <a:spcPts val="400"/>
              </a:spcAft>
            </a:pPr>
            <a:r>
              <a:rPr sz="1400" b="0" i="0" dirty="0">
                <a:solidFill>
                  <a:srgbClr val="262626"/>
                </a:solidFill>
                <a:latin typeface="Arial"/>
                <a:ea typeface="微软雅黑"/>
              </a:rPr>
              <a:t>+Grid inter-satellite links</a:t>
            </a:r>
          </a:p>
          <a:p>
            <a:pPr algn="l">
              <a:spcAft>
                <a:spcPts val="400"/>
              </a:spcAft>
            </a:pPr>
            <a:r>
              <a:rPr sz="1400" b="0" i="0" dirty="0">
                <a:solidFill>
                  <a:srgbClr val="262626"/>
                </a:solidFill>
                <a:latin typeface="Arial"/>
                <a:ea typeface="微软雅黑"/>
              </a:rPr>
              <a:t>Snapshot every 5 min from 2024-01-01 12:00 UTC</a:t>
            </a:r>
          </a:p>
          <a:p>
            <a:pPr algn="l">
              <a:spcAft>
                <a:spcPts val="400"/>
              </a:spcAft>
            </a:pPr>
            <a:r>
              <a:rPr sz="1400" b="0" i="0" dirty="0">
                <a:solidFill>
                  <a:srgbClr val="262626"/>
                </a:solidFill>
                <a:latin typeface="Arial"/>
                <a:ea typeface="微软雅黑"/>
              </a:rPr>
              <a:t>≈80 s translation period → temporal invariance</a:t>
            </a:r>
          </a:p>
          <a:p>
            <a:pPr algn="l">
              <a:spcAft>
                <a:spcPts val="400"/>
              </a:spcAft>
            </a:pPr>
            <a:r>
              <a:rPr sz="1300" b="0" i="0" dirty="0">
                <a:solidFill>
                  <a:srgbClr val="707070"/>
                </a:solidFill>
                <a:latin typeface="Arial"/>
                <a:ea typeface="微软雅黑"/>
              </a:rPr>
              <a:t>Python 3.10  ·  NVIDIA RTX 4090 GPU</a:t>
            </a:r>
          </a:p>
        </p:txBody>
      </p:sp>
      <p:sp>
        <p:nvSpPr>
          <p:cNvPr id="9" name="Rectangle 8"/>
          <p:cNvSpPr/>
          <p:nvPr/>
        </p:nvSpPr>
        <p:spPr>
          <a:xfrm>
            <a:off x="6263640" y="1033272"/>
            <a:ext cx="82296"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7" y="987552"/>
            <a:ext cx="5303520" cy="420624"/>
          </a:xfrm>
          <a:prstGeom prst="rect">
            <a:avLst/>
          </a:prstGeom>
          <a:noFill/>
        </p:spPr>
        <p:txBody>
          <a:bodyPr wrap="square" lIns="45720" tIns="18288" rIns="45720" bIns="18288" anchor="ctr">
            <a:noAutofit/>
          </a:bodyPr>
          <a:lstStyle/>
          <a:p>
            <a:pPr algn="l"/>
            <a:r>
              <a:rPr sz="2000" b="1" i="0">
                <a:solidFill>
                  <a:srgbClr val="C00000"/>
                </a:solidFill>
                <a:latin typeface="Arial"/>
                <a:ea typeface="微软雅黑"/>
              </a:rPr>
              <a:t>Traffic Generation</a:t>
            </a:r>
          </a:p>
        </p:txBody>
      </p:sp>
      <p:sp>
        <p:nvSpPr>
          <p:cNvPr id="11" name="TextBox 10"/>
          <p:cNvSpPr txBox="1"/>
          <p:nvPr/>
        </p:nvSpPr>
        <p:spPr>
          <a:xfrm>
            <a:off x="6419088" y="1444752"/>
            <a:ext cx="5303520" cy="1783080"/>
          </a:xfrm>
          <a:prstGeom prst="rect">
            <a:avLst/>
          </a:prstGeom>
          <a:noFill/>
        </p:spPr>
        <p:txBody>
          <a:bodyPr wrap="square" lIns="73152" tIns="36576" rIns="73152" bIns="36576" anchor="t">
            <a:noAutofit/>
          </a:bodyPr>
          <a:lstStyle/>
          <a:p>
            <a:pPr algn="l">
              <a:spcAft>
                <a:spcPts val="400"/>
              </a:spcAft>
            </a:pPr>
            <a:r>
              <a:rPr sz="1500" b="1" i="0">
                <a:solidFill>
                  <a:srgbClr val="2272AB"/>
                </a:solidFill>
                <a:latin typeface="Arial"/>
                <a:ea typeface="微软雅黑"/>
              </a:rPr>
              <a:t>Random gravity model (GDP / population)</a:t>
            </a:r>
          </a:p>
          <a:p>
            <a:pPr algn="l">
              <a:spcAft>
                <a:spcPts val="400"/>
              </a:spcAft>
            </a:pPr>
            <a:r>
              <a:rPr sz="1400" b="0" i="0">
                <a:solidFill>
                  <a:srgbClr val="262626"/>
                </a:solidFill>
                <a:latin typeface="Arial"/>
                <a:ea typeface="微软雅黑"/>
              </a:rPr>
              <a:t>Nearest-access: city → nearest satellite</a:t>
            </a:r>
          </a:p>
          <a:p>
            <a:pPr algn="l">
              <a:spcAft>
                <a:spcPts val="400"/>
              </a:spcAft>
            </a:pPr>
            <a:r>
              <a:rPr sz="1400" b="0" i="0">
                <a:solidFill>
                  <a:srgbClr val="262626"/>
                </a:solidFill>
                <a:latin typeface="Arial"/>
                <a:ea typeface="微软雅黑"/>
              </a:rPr>
              <a:t>+1 Mbps per sampled city pair</a:t>
            </a:r>
          </a:p>
          <a:p>
            <a:pPr algn="l">
              <a:spcAft>
                <a:spcPts val="400"/>
              </a:spcAft>
            </a:pPr>
            <a:r>
              <a:rPr sz="1400" b="0" i="0">
                <a:solidFill>
                  <a:srgbClr val="262626"/>
                </a:solidFill>
                <a:latin typeface="Arial"/>
                <a:ea typeface="微软雅黑"/>
              </a:rPr>
              <a:t>Base load: normalized Abilene (first 2 weeks)</a:t>
            </a:r>
          </a:p>
          <a:p>
            <a:pPr algn="l">
              <a:spcAft>
                <a:spcPts val="400"/>
              </a:spcAft>
            </a:pPr>
            <a:r>
              <a:rPr sz="1400" b="1" i="0">
                <a:solidFill>
                  <a:srgbClr val="C00000"/>
                </a:solidFill>
                <a:latin typeface="Arial"/>
                <a:ea typeface="微软雅黑"/>
              </a:rPr>
              <a:t>100 GDP + 100 POP traffic matrices</a:t>
            </a:r>
          </a:p>
        </p:txBody>
      </p:sp>
      <p:sp>
        <p:nvSpPr>
          <p:cNvPr id="12" name="Rectangle 11"/>
          <p:cNvSpPr/>
          <p:nvPr/>
        </p:nvSpPr>
        <p:spPr>
          <a:xfrm>
            <a:off x="502920" y="3291839"/>
            <a:ext cx="82296" cy="3108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3246120"/>
            <a:ext cx="5669280" cy="420624"/>
          </a:xfrm>
          <a:prstGeom prst="rect">
            <a:avLst/>
          </a:prstGeom>
          <a:noFill/>
        </p:spPr>
        <p:txBody>
          <a:bodyPr wrap="square" lIns="45720" tIns="18288" rIns="45720" bIns="18288" anchor="ctr">
            <a:noAutofit/>
          </a:bodyPr>
          <a:lstStyle/>
          <a:p>
            <a:pPr algn="l"/>
            <a:r>
              <a:rPr sz="2000" b="1" i="0">
                <a:solidFill>
                  <a:srgbClr val="2E7D32"/>
                </a:solidFill>
                <a:latin typeface="Arial"/>
                <a:ea typeface="微软雅黑"/>
              </a:rPr>
              <a:t>Gravity-Model Demand (global cities)</a:t>
            </a:r>
          </a:p>
        </p:txBody>
      </p:sp>
      <p:sp>
        <p:nvSpPr>
          <p:cNvPr id="14" name="Rectangle 13"/>
          <p:cNvSpPr/>
          <p:nvPr/>
        </p:nvSpPr>
        <p:spPr>
          <a:xfrm>
            <a:off x="894400" y="3694176"/>
            <a:ext cx="4749159" cy="2450592"/>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world_demand.png"/>
          <p:cNvPicPr>
            <a:picLocks noChangeAspect="1"/>
          </p:cNvPicPr>
          <p:nvPr/>
        </p:nvPicPr>
        <p:blipFill>
          <a:blip r:embed="rId4"/>
          <a:stretch>
            <a:fillRect/>
          </a:stretch>
        </p:blipFill>
        <p:spPr>
          <a:xfrm>
            <a:off x="930976" y="3730752"/>
            <a:ext cx="4676007" cy="2377440"/>
          </a:xfrm>
          <a:prstGeom prst="rect">
            <a:avLst/>
          </a:prstGeom>
        </p:spPr>
      </p:pic>
      <p:sp>
        <p:nvSpPr>
          <p:cNvPr id="16" name="Rectangle 15"/>
          <p:cNvSpPr/>
          <p:nvPr/>
        </p:nvSpPr>
        <p:spPr>
          <a:xfrm>
            <a:off x="6263640" y="3291839"/>
            <a:ext cx="82296" cy="3108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7" y="3246120"/>
            <a:ext cx="5486400" cy="420624"/>
          </a:xfrm>
          <a:prstGeom prst="rect">
            <a:avLst/>
          </a:prstGeom>
          <a:noFill/>
        </p:spPr>
        <p:txBody>
          <a:bodyPr wrap="square" lIns="45720" tIns="18288" rIns="45720" bIns="18288" anchor="ctr">
            <a:noAutofit/>
          </a:bodyPr>
          <a:lstStyle/>
          <a:p>
            <a:pPr algn="l"/>
            <a:r>
              <a:rPr sz="2000" b="1" i="0">
                <a:solidFill>
                  <a:srgbClr val="2E7D32"/>
                </a:solidFill>
                <a:latin typeface="Arial"/>
                <a:ea typeface="微软雅黑"/>
              </a:rPr>
              <a:t>Traffic-Matrix Statistics (Mbps)</a:t>
            </a:r>
          </a:p>
        </p:txBody>
      </p:sp>
      <p:sp>
        <p:nvSpPr>
          <p:cNvPr id="18" name="Rectangle 17"/>
          <p:cNvSpPr/>
          <p:nvPr/>
        </p:nvSpPr>
        <p:spPr>
          <a:xfrm>
            <a:off x="6355080" y="3749039"/>
            <a:ext cx="1371600" cy="384048"/>
          </a:xfrm>
          <a:prstGeom prst="rect">
            <a:avLst/>
          </a:prstGeom>
          <a:solidFill>
            <a:srgbClr val="00358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3749039"/>
            <a:ext cx="1371600" cy="384048"/>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Traffic</a:t>
            </a:r>
          </a:p>
        </p:txBody>
      </p:sp>
      <p:sp>
        <p:nvSpPr>
          <p:cNvPr id="20" name="Rectangle 19"/>
          <p:cNvSpPr/>
          <p:nvPr/>
        </p:nvSpPr>
        <p:spPr>
          <a:xfrm>
            <a:off x="7726679" y="3749039"/>
            <a:ext cx="822960" cy="384048"/>
          </a:xfrm>
          <a:prstGeom prst="rect">
            <a:avLst/>
          </a:prstGeom>
          <a:solidFill>
            <a:srgbClr val="00358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26679" y="3749039"/>
            <a:ext cx="822960" cy="384048"/>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Min</a:t>
            </a:r>
          </a:p>
        </p:txBody>
      </p:sp>
      <p:sp>
        <p:nvSpPr>
          <p:cNvPr id="22" name="Rectangle 21"/>
          <p:cNvSpPr/>
          <p:nvPr/>
        </p:nvSpPr>
        <p:spPr>
          <a:xfrm>
            <a:off x="8549640" y="3749039"/>
            <a:ext cx="822960" cy="384048"/>
          </a:xfrm>
          <a:prstGeom prst="rect">
            <a:avLst/>
          </a:prstGeom>
          <a:solidFill>
            <a:srgbClr val="00358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3749039"/>
            <a:ext cx="822960" cy="384048"/>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Max</a:t>
            </a:r>
          </a:p>
        </p:txBody>
      </p:sp>
      <p:sp>
        <p:nvSpPr>
          <p:cNvPr id="24" name="Rectangle 23"/>
          <p:cNvSpPr/>
          <p:nvPr/>
        </p:nvSpPr>
        <p:spPr>
          <a:xfrm>
            <a:off x="9372600" y="3749039"/>
            <a:ext cx="1143000" cy="384048"/>
          </a:xfrm>
          <a:prstGeom prst="rect">
            <a:avLst/>
          </a:prstGeom>
          <a:solidFill>
            <a:srgbClr val="00358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3749039"/>
            <a:ext cx="1143000" cy="384048"/>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Mean  μ</a:t>
            </a:r>
          </a:p>
        </p:txBody>
      </p:sp>
      <p:sp>
        <p:nvSpPr>
          <p:cNvPr id="26" name="Rectangle 25"/>
          <p:cNvSpPr/>
          <p:nvPr/>
        </p:nvSpPr>
        <p:spPr>
          <a:xfrm>
            <a:off x="10515600" y="3749039"/>
            <a:ext cx="1143000" cy="384048"/>
          </a:xfrm>
          <a:prstGeom prst="rect">
            <a:avLst/>
          </a:prstGeom>
          <a:solidFill>
            <a:srgbClr val="00358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515600" y="3749039"/>
            <a:ext cx="1143000" cy="384048"/>
          </a:xfrm>
          <a:prstGeom prst="rect">
            <a:avLst/>
          </a:prstGeom>
          <a:noFill/>
        </p:spPr>
        <p:txBody>
          <a:bodyPr wrap="square" lIns="45720" tIns="18288" rIns="45720" bIns="18288" anchor="ctr">
            <a:noAutofit/>
          </a:bodyPr>
          <a:lstStyle/>
          <a:p>
            <a:pPr algn="ctr"/>
            <a:r>
              <a:rPr sz="1300" b="1" i="0">
                <a:solidFill>
                  <a:srgbClr val="FFFFFF"/>
                </a:solidFill>
                <a:latin typeface="Arial"/>
                <a:ea typeface="微软雅黑"/>
              </a:rPr>
              <a:t>Std  σ</a:t>
            </a:r>
          </a:p>
        </p:txBody>
      </p:sp>
      <p:sp>
        <p:nvSpPr>
          <p:cNvPr id="28" name="Rectangle 27"/>
          <p:cNvSpPr/>
          <p:nvPr/>
        </p:nvSpPr>
        <p:spPr>
          <a:xfrm>
            <a:off x="6355080" y="4133087"/>
            <a:ext cx="1371600" cy="384048"/>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4133087"/>
            <a:ext cx="1371600" cy="384048"/>
          </a:xfrm>
          <a:prstGeom prst="rect">
            <a:avLst/>
          </a:prstGeom>
          <a:noFill/>
        </p:spPr>
        <p:txBody>
          <a:bodyPr wrap="square" lIns="45720" tIns="18288" rIns="45720" bIns="18288" anchor="ctr">
            <a:noAutofit/>
          </a:bodyPr>
          <a:lstStyle/>
          <a:p>
            <a:pPr algn="ctr"/>
            <a:r>
              <a:rPr sz="1300" b="1" i="0">
                <a:solidFill>
                  <a:srgbClr val="262626"/>
                </a:solidFill>
                <a:latin typeface="Arial"/>
                <a:ea typeface="微软雅黑"/>
              </a:rPr>
              <a:t>gdp_random</a:t>
            </a:r>
          </a:p>
        </p:txBody>
      </p:sp>
      <p:sp>
        <p:nvSpPr>
          <p:cNvPr id="30" name="Rectangle 29"/>
          <p:cNvSpPr/>
          <p:nvPr/>
        </p:nvSpPr>
        <p:spPr>
          <a:xfrm>
            <a:off x="7726679" y="4133087"/>
            <a:ext cx="822960" cy="384048"/>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26679" y="4133087"/>
            <a:ext cx="82296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0.0</a:t>
            </a:r>
          </a:p>
        </p:txBody>
      </p:sp>
      <p:sp>
        <p:nvSpPr>
          <p:cNvPr id="32" name="Rectangle 31"/>
          <p:cNvSpPr/>
          <p:nvPr/>
        </p:nvSpPr>
        <p:spPr>
          <a:xfrm>
            <a:off x="8549640" y="4133087"/>
            <a:ext cx="822960" cy="384048"/>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49640" y="4133087"/>
            <a:ext cx="82296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1,160</a:t>
            </a:r>
          </a:p>
        </p:txBody>
      </p:sp>
      <p:sp>
        <p:nvSpPr>
          <p:cNvPr id="34" name="Rectangle 33"/>
          <p:cNvSpPr/>
          <p:nvPr/>
        </p:nvSpPr>
        <p:spPr>
          <a:xfrm>
            <a:off x="9372600" y="4133087"/>
            <a:ext cx="1143000" cy="384048"/>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72600" y="4133087"/>
            <a:ext cx="114300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11.59</a:t>
            </a:r>
          </a:p>
        </p:txBody>
      </p:sp>
      <p:sp>
        <p:nvSpPr>
          <p:cNvPr id="36" name="Rectangle 35"/>
          <p:cNvSpPr/>
          <p:nvPr/>
        </p:nvSpPr>
        <p:spPr>
          <a:xfrm>
            <a:off x="10515600" y="4133087"/>
            <a:ext cx="1143000" cy="384048"/>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515600" y="4133087"/>
            <a:ext cx="114300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29.25</a:t>
            </a:r>
          </a:p>
        </p:txBody>
      </p:sp>
      <p:sp>
        <p:nvSpPr>
          <p:cNvPr id="38" name="Rectangle 37"/>
          <p:cNvSpPr/>
          <p:nvPr/>
        </p:nvSpPr>
        <p:spPr>
          <a:xfrm>
            <a:off x="6355080" y="4517136"/>
            <a:ext cx="1371600" cy="384048"/>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4517136"/>
            <a:ext cx="1371600" cy="384048"/>
          </a:xfrm>
          <a:prstGeom prst="rect">
            <a:avLst/>
          </a:prstGeom>
          <a:noFill/>
        </p:spPr>
        <p:txBody>
          <a:bodyPr wrap="square" lIns="45720" tIns="18288" rIns="45720" bIns="18288" anchor="ctr">
            <a:noAutofit/>
          </a:bodyPr>
          <a:lstStyle/>
          <a:p>
            <a:pPr algn="ctr"/>
            <a:r>
              <a:rPr sz="1300" b="1" i="0">
                <a:solidFill>
                  <a:srgbClr val="262626"/>
                </a:solidFill>
                <a:latin typeface="Arial"/>
                <a:ea typeface="微软雅黑"/>
              </a:rPr>
              <a:t>pop_random</a:t>
            </a:r>
          </a:p>
        </p:txBody>
      </p:sp>
      <p:sp>
        <p:nvSpPr>
          <p:cNvPr id="40" name="Rectangle 39"/>
          <p:cNvSpPr/>
          <p:nvPr/>
        </p:nvSpPr>
        <p:spPr>
          <a:xfrm>
            <a:off x="7726679" y="4517136"/>
            <a:ext cx="822960" cy="384048"/>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26679" y="4517136"/>
            <a:ext cx="82296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0.0</a:t>
            </a:r>
          </a:p>
        </p:txBody>
      </p:sp>
      <p:sp>
        <p:nvSpPr>
          <p:cNvPr id="42" name="Rectangle 41"/>
          <p:cNvSpPr/>
          <p:nvPr/>
        </p:nvSpPr>
        <p:spPr>
          <a:xfrm>
            <a:off x="8549640" y="4517136"/>
            <a:ext cx="822960" cy="384048"/>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49640" y="4517136"/>
            <a:ext cx="82296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1,800</a:t>
            </a:r>
          </a:p>
        </p:txBody>
      </p:sp>
      <p:sp>
        <p:nvSpPr>
          <p:cNvPr id="44" name="Rectangle 43"/>
          <p:cNvSpPr/>
          <p:nvPr/>
        </p:nvSpPr>
        <p:spPr>
          <a:xfrm>
            <a:off x="9372600" y="4517136"/>
            <a:ext cx="1143000" cy="384048"/>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72600" y="4517136"/>
            <a:ext cx="114300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159.46</a:t>
            </a:r>
          </a:p>
        </p:txBody>
      </p:sp>
      <p:sp>
        <p:nvSpPr>
          <p:cNvPr id="46" name="Rectangle 45"/>
          <p:cNvSpPr/>
          <p:nvPr/>
        </p:nvSpPr>
        <p:spPr>
          <a:xfrm>
            <a:off x="10515600" y="4517136"/>
            <a:ext cx="1143000" cy="384048"/>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515600" y="4517136"/>
            <a:ext cx="1143000" cy="384048"/>
          </a:xfrm>
          <a:prstGeom prst="rect">
            <a:avLst/>
          </a:prstGeom>
          <a:noFill/>
        </p:spPr>
        <p:txBody>
          <a:bodyPr wrap="square" lIns="45720" tIns="18288" rIns="45720" bIns="18288" anchor="ctr">
            <a:noAutofit/>
          </a:bodyPr>
          <a:lstStyle/>
          <a:p>
            <a:pPr algn="ctr"/>
            <a:r>
              <a:rPr sz="1300" b="0" i="0">
                <a:solidFill>
                  <a:srgbClr val="262626"/>
                </a:solidFill>
                <a:latin typeface="Arial"/>
                <a:ea typeface="微软雅黑"/>
              </a:rPr>
              <a:t>242.34</a:t>
            </a:r>
          </a:p>
        </p:txBody>
      </p:sp>
      <p:sp>
        <p:nvSpPr>
          <p:cNvPr id="48" name="TextBox 47"/>
          <p:cNvSpPr txBox="1"/>
          <p:nvPr/>
        </p:nvSpPr>
        <p:spPr>
          <a:xfrm>
            <a:off x="6355080" y="5029199"/>
            <a:ext cx="5303520" cy="1188720"/>
          </a:xfrm>
          <a:prstGeom prst="rect">
            <a:avLst/>
          </a:prstGeom>
          <a:noFill/>
        </p:spPr>
        <p:txBody>
          <a:bodyPr wrap="square" lIns="45720" tIns="18288" rIns="45720" bIns="18288" anchor="t">
            <a:noAutofit/>
          </a:bodyPr>
          <a:lstStyle/>
          <a:p>
            <a:pPr algn="l"/>
            <a:r>
              <a:rPr sz="1200" b="0" i="1">
                <a:solidFill>
                  <a:srgbClr val="C00000"/>
                </a:solidFill>
                <a:latin typeface="Arial"/>
                <a:ea typeface="微软雅黑"/>
              </a:rPr>
              <a:t>Max ≫ mean ⇒ strongly heavy-tailed traffic — motivating the elephant/mice split via τ = μ + 5σ  (≈ 158 Mbps for GDP, ≈ 1,371 Mbps for POP).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Threshold Sensitivity: Choosing λ</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16</a:t>
            </a:r>
          </a:p>
        </p:txBody>
      </p:sp>
      <p:sp>
        <p:nvSpPr>
          <p:cNvPr id="6" name="Rectangle 5"/>
          <p:cNvSpPr/>
          <p:nvPr/>
        </p:nvSpPr>
        <p:spPr>
          <a:xfrm>
            <a:off x="502920" y="1097280"/>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51560"/>
            <a:ext cx="868680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MLU CDF across λ-σ thresholds (3σ – 10σ)</a:t>
            </a:r>
          </a:p>
        </p:txBody>
      </p:sp>
      <p:sp>
        <p:nvSpPr>
          <p:cNvPr id="8" name="Rectangle 7"/>
          <p:cNvSpPr/>
          <p:nvPr/>
        </p:nvSpPr>
        <p:spPr>
          <a:xfrm>
            <a:off x="727288" y="1563624"/>
            <a:ext cx="5129103" cy="3593592"/>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df_gdp.png"/>
          <p:cNvPicPr>
            <a:picLocks noChangeAspect="1"/>
          </p:cNvPicPr>
          <p:nvPr/>
        </p:nvPicPr>
        <p:blipFill>
          <a:blip r:embed="rId4"/>
          <a:stretch>
            <a:fillRect/>
          </a:stretch>
        </p:blipFill>
        <p:spPr>
          <a:xfrm>
            <a:off x="763864" y="1600200"/>
            <a:ext cx="5055951" cy="3520440"/>
          </a:xfrm>
          <a:prstGeom prst="rect">
            <a:avLst/>
          </a:prstGeom>
        </p:spPr>
      </p:pic>
      <p:sp>
        <p:nvSpPr>
          <p:cNvPr id="10" name="TextBox 9"/>
          <p:cNvSpPr txBox="1"/>
          <p:nvPr/>
        </p:nvSpPr>
        <p:spPr>
          <a:xfrm>
            <a:off x="685800" y="5138928"/>
            <a:ext cx="5212080" cy="320040"/>
          </a:xfrm>
          <a:prstGeom prst="rect">
            <a:avLst/>
          </a:prstGeom>
          <a:noFill/>
        </p:spPr>
        <p:txBody>
          <a:bodyPr wrap="square" lIns="45720" tIns="18288" rIns="45720" bIns="18288" anchor="t">
            <a:noAutofit/>
          </a:bodyPr>
          <a:lstStyle/>
          <a:p>
            <a:pPr algn="ctr"/>
            <a:r>
              <a:rPr sz="1500" b="1" i="0">
                <a:solidFill>
                  <a:srgbClr val="262626"/>
                </a:solidFill>
                <a:latin typeface="Arial"/>
                <a:ea typeface="微软雅黑"/>
              </a:rPr>
              <a:t>GDP-based traffic</a:t>
            </a:r>
          </a:p>
        </p:txBody>
      </p:sp>
      <p:sp>
        <p:nvSpPr>
          <p:cNvPr id="11" name="Rectangle 10"/>
          <p:cNvSpPr/>
          <p:nvPr/>
        </p:nvSpPr>
        <p:spPr>
          <a:xfrm>
            <a:off x="6213688" y="1563624"/>
            <a:ext cx="5129103" cy="3593592"/>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df_pop.png"/>
          <p:cNvPicPr>
            <a:picLocks noChangeAspect="1"/>
          </p:cNvPicPr>
          <p:nvPr/>
        </p:nvPicPr>
        <p:blipFill>
          <a:blip r:embed="rId5"/>
          <a:stretch>
            <a:fillRect/>
          </a:stretch>
        </p:blipFill>
        <p:spPr>
          <a:xfrm>
            <a:off x="6250264" y="1600200"/>
            <a:ext cx="5055951" cy="3520440"/>
          </a:xfrm>
          <a:prstGeom prst="rect">
            <a:avLst/>
          </a:prstGeom>
        </p:spPr>
      </p:pic>
      <p:sp>
        <p:nvSpPr>
          <p:cNvPr id="13" name="TextBox 12"/>
          <p:cNvSpPr txBox="1"/>
          <p:nvPr/>
        </p:nvSpPr>
        <p:spPr>
          <a:xfrm>
            <a:off x="6172200" y="5138928"/>
            <a:ext cx="5212080" cy="320040"/>
          </a:xfrm>
          <a:prstGeom prst="rect">
            <a:avLst/>
          </a:prstGeom>
          <a:noFill/>
        </p:spPr>
        <p:txBody>
          <a:bodyPr wrap="square" lIns="45720" tIns="18288" rIns="45720" bIns="18288" anchor="t">
            <a:noAutofit/>
          </a:bodyPr>
          <a:lstStyle/>
          <a:p>
            <a:pPr algn="ctr"/>
            <a:r>
              <a:rPr sz="1500" b="1" i="0">
                <a:solidFill>
                  <a:srgbClr val="262626"/>
                </a:solidFill>
                <a:latin typeface="Arial"/>
                <a:ea typeface="微软雅黑"/>
              </a:rPr>
              <a:t>POP-based traffic</a:t>
            </a:r>
          </a:p>
        </p:txBody>
      </p:sp>
      <p:sp>
        <p:nvSpPr>
          <p:cNvPr id="14" name="TextBox 13"/>
          <p:cNvSpPr txBox="1"/>
          <p:nvPr/>
        </p:nvSpPr>
        <p:spPr>
          <a:xfrm>
            <a:off x="685800" y="5577840"/>
            <a:ext cx="10789920" cy="365760"/>
          </a:xfrm>
          <a:prstGeom prst="rect">
            <a:avLst/>
          </a:prstGeom>
          <a:noFill/>
        </p:spPr>
        <p:txBody>
          <a:bodyPr wrap="square" lIns="45720" tIns="18288" rIns="45720" bIns="18288" anchor="t">
            <a:noAutofit/>
          </a:bodyPr>
          <a:lstStyle/>
          <a:p>
            <a:pPr algn="ctr"/>
            <a:r>
              <a:rPr sz="1500" b="0" i="1">
                <a:solidFill>
                  <a:srgbClr val="C00000"/>
                </a:solidFill>
                <a:latin typeface="Arial"/>
                <a:ea typeface="微软雅黑"/>
              </a:rPr>
              <a:t>λ = 5σ (green) sits furthest left → lowest MLU. We adopt λ = 5 for all experiments.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Load Balancing: Normalized MLU</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17</a:t>
            </a:r>
          </a:p>
        </p:txBody>
      </p:sp>
      <p:sp>
        <p:nvSpPr>
          <p:cNvPr id="6" name="Rectangle 5"/>
          <p:cNvSpPr/>
          <p:nvPr/>
        </p:nvSpPr>
        <p:spPr>
          <a:xfrm>
            <a:off x="512063" y="1262649"/>
            <a:ext cx="5102352" cy="3646900"/>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ox_gdp.png"/>
          <p:cNvPicPr>
            <a:picLocks noChangeAspect="1"/>
          </p:cNvPicPr>
          <p:nvPr/>
        </p:nvPicPr>
        <p:blipFill>
          <a:blip r:embed="rId4"/>
          <a:stretch>
            <a:fillRect/>
          </a:stretch>
        </p:blipFill>
        <p:spPr>
          <a:xfrm>
            <a:off x="548640" y="1299225"/>
            <a:ext cx="5029200" cy="3573748"/>
          </a:xfrm>
          <a:prstGeom prst="rect">
            <a:avLst/>
          </a:prstGeom>
        </p:spPr>
      </p:pic>
      <p:sp>
        <p:nvSpPr>
          <p:cNvPr id="8" name="TextBox 7"/>
          <p:cNvSpPr txBox="1"/>
          <p:nvPr/>
        </p:nvSpPr>
        <p:spPr>
          <a:xfrm>
            <a:off x="548640" y="5010912"/>
            <a:ext cx="5029200" cy="320040"/>
          </a:xfrm>
          <a:prstGeom prst="rect">
            <a:avLst/>
          </a:prstGeom>
          <a:noFill/>
        </p:spPr>
        <p:txBody>
          <a:bodyPr wrap="square" lIns="45720" tIns="18288" rIns="45720" bIns="18288" anchor="t">
            <a:noAutofit/>
          </a:bodyPr>
          <a:lstStyle/>
          <a:p>
            <a:pPr algn="ctr"/>
            <a:r>
              <a:rPr sz="1500" b="1" i="0">
                <a:solidFill>
                  <a:srgbClr val="262626"/>
                </a:solidFill>
                <a:latin typeface="Arial"/>
                <a:ea typeface="微软雅黑"/>
              </a:rPr>
              <a:t>GDP-based traffic</a:t>
            </a:r>
          </a:p>
        </p:txBody>
      </p:sp>
      <p:sp>
        <p:nvSpPr>
          <p:cNvPr id="9" name="Rectangle 8"/>
          <p:cNvSpPr/>
          <p:nvPr/>
        </p:nvSpPr>
        <p:spPr>
          <a:xfrm>
            <a:off x="5632704" y="1262649"/>
            <a:ext cx="5102352" cy="3646900"/>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box_pop.png"/>
          <p:cNvPicPr>
            <a:picLocks noChangeAspect="1"/>
          </p:cNvPicPr>
          <p:nvPr/>
        </p:nvPicPr>
        <p:blipFill>
          <a:blip r:embed="rId5"/>
          <a:stretch>
            <a:fillRect/>
          </a:stretch>
        </p:blipFill>
        <p:spPr>
          <a:xfrm>
            <a:off x="5669280" y="1299225"/>
            <a:ext cx="5029200" cy="3573748"/>
          </a:xfrm>
          <a:prstGeom prst="rect">
            <a:avLst/>
          </a:prstGeom>
        </p:spPr>
      </p:pic>
      <p:sp>
        <p:nvSpPr>
          <p:cNvPr id="11" name="TextBox 10"/>
          <p:cNvSpPr txBox="1"/>
          <p:nvPr/>
        </p:nvSpPr>
        <p:spPr>
          <a:xfrm>
            <a:off x="5669280" y="5010912"/>
            <a:ext cx="5029200" cy="320040"/>
          </a:xfrm>
          <a:prstGeom prst="rect">
            <a:avLst/>
          </a:prstGeom>
          <a:noFill/>
        </p:spPr>
        <p:txBody>
          <a:bodyPr wrap="square" lIns="45720" tIns="18288" rIns="45720" bIns="18288" anchor="t">
            <a:noAutofit/>
          </a:bodyPr>
          <a:lstStyle/>
          <a:p>
            <a:pPr algn="ctr"/>
            <a:r>
              <a:rPr sz="1500" b="1" i="0">
                <a:solidFill>
                  <a:srgbClr val="262626"/>
                </a:solidFill>
                <a:latin typeface="Arial"/>
                <a:ea typeface="微软雅黑"/>
              </a:rPr>
              <a:t>POP-based traffic</a:t>
            </a:r>
          </a:p>
        </p:txBody>
      </p:sp>
      <p:sp>
        <p:nvSpPr>
          <p:cNvPr id="12" name="Rectangle 11"/>
          <p:cNvSpPr/>
          <p:nvPr/>
        </p:nvSpPr>
        <p:spPr>
          <a:xfrm>
            <a:off x="10835640" y="1188720"/>
            <a:ext cx="1188720" cy="3794760"/>
          </a:xfrm>
          <a:prstGeom prst="rect">
            <a:avLst/>
          </a:prstGeom>
          <a:solidFill>
            <a:srgbClr val="EAF3EA"/>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835640" y="1188720"/>
            <a:ext cx="1188720" cy="3794760"/>
          </a:xfrm>
          <a:prstGeom prst="rect">
            <a:avLst/>
          </a:prstGeom>
          <a:noFill/>
        </p:spPr>
        <p:txBody>
          <a:bodyPr wrap="square" lIns="45720" tIns="18288" rIns="45720" bIns="18288" anchor="ctr">
            <a:noAutofit/>
          </a:bodyPr>
          <a:lstStyle/>
          <a:p>
            <a:pPr algn="ctr"/>
            <a:r>
              <a:rPr sz="1500" b="1" i="0">
                <a:solidFill>
                  <a:srgbClr val="2E7D32"/>
                </a:solidFill>
                <a:latin typeface="Arial"/>
                <a:ea typeface="微软雅黑"/>
              </a:rPr>
              <a:t>8–29%
lower MLU
vs. every
baseline</a:t>
            </a:r>
          </a:p>
        </p:txBody>
      </p:sp>
      <p:sp>
        <p:nvSpPr>
          <p:cNvPr id="14" name="TextBox 13"/>
          <p:cNvSpPr txBox="1"/>
          <p:nvPr/>
        </p:nvSpPr>
        <p:spPr>
          <a:xfrm>
            <a:off x="548640" y="5532120"/>
            <a:ext cx="11430000" cy="365760"/>
          </a:xfrm>
          <a:prstGeom prst="rect">
            <a:avLst/>
          </a:prstGeom>
          <a:noFill/>
        </p:spPr>
        <p:txBody>
          <a:bodyPr wrap="square" lIns="45720" tIns="18288" rIns="45720" bIns="18288" anchor="t">
            <a:noAutofit/>
          </a:bodyPr>
          <a:lstStyle/>
          <a:p>
            <a:pPr algn="ctr"/>
            <a:r>
              <a:rPr sz="1400" b="0" i="1">
                <a:solidFill>
                  <a:srgbClr val="707070"/>
                </a:solidFill>
                <a:latin typeface="Arial"/>
                <a:ea typeface="微软雅黑"/>
              </a:rPr>
              <a:t>ELATE (rightmost) achieves the lowest median MLU against SP, SE, LP, LS and CESLP.  Lower is better.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Computational Efficiency</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18</a:t>
            </a:r>
          </a:p>
        </p:txBody>
      </p:sp>
      <p:sp>
        <p:nvSpPr>
          <p:cNvPr id="6" name="Rectangle 5"/>
          <p:cNvSpPr/>
          <p:nvPr/>
        </p:nvSpPr>
        <p:spPr>
          <a:xfrm>
            <a:off x="502920" y="1143000"/>
            <a:ext cx="82296" cy="310896"/>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097280"/>
            <a:ext cx="5120640" cy="420624"/>
          </a:xfrm>
          <a:prstGeom prst="rect">
            <a:avLst/>
          </a:prstGeom>
          <a:noFill/>
        </p:spPr>
        <p:txBody>
          <a:bodyPr wrap="square" lIns="45720" tIns="18288" rIns="45720" bIns="18288" anchor="ctr">
            <a:noAutofit/>
          </a:bodyPr>
          <a:lstStyle/>
          <a:p>
            <a:pPr algn="l"/>
            <a:r>
              <a:rPr sz="2000" b="1" i="0">
                <a:solidFill>
                  <a:srgbClr val="2272AB"/>
                </a:solidFill>
                <a:latin typeface="Arial"/>
                <a:ea typeface="微软雅黑"/>
              </a:rPr>
              <a:t>Average Flow-Allocation Time</a:t>
            </a:r>
          </a:p>
        </p:txBody>
      </p:sp>
      <p:sp>
        <p:nvSpPr>
          <p:cNvPr id="8" name="Rectangle 7"/>
          <p:cNvSpPr/>
          <p:nvPr/>
        </p:nvSpPr>
        <p:spPr>
          <a:xfrm>
            <a:off x="685800" y="1783080"/>
            <a:ext cx="2834640" cy="402336"/>
          </a:xfrm>
          <a:prstGeom prst="rect">
            <a:avLst/>
          </a:prstGeom>
          <a:solidFill>
            <a:srgbClr val="00358E"/>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783080"/>
            <a:ext cx="2651760" cy="402336"/>
          </a:xfrm>
          <a:prstGeom prst="rect">
            <a:avLst/>
          </a:prstGeom>
          <a:noFill/>
        </p:spPr>
        <p:txBody>
          <a:bodyPr wrap="square" lIns="45720" tIns="18288" rIns="45720" bIns="18288" anchor="ctr">
            <a:noAutofit/>
          </a:bodyPr>
          <a:lstStyle/>
          <a:p>
            <a:pPr algn="l"/>
            <a:r>
              <a:rPr sz="1600" b="1" i="0">
                <a:solidFill>
                  <a:srgbClr val="FFFFFF"/>
                </a:solidFill>
                <a:latin typeface="Arial"/>
                <a:ea typeface="微软雅黑"/>
              </a:rPr>
              <a:t>Scheme</a:t>
            </a:r>
          </a:p>
        </p:txBody>
      </p:sp>
      <p:sp>
        <p:nvSpPr>
          <p:cNvPr id="10" name="Rectangle 9"/>
          <p:cNvSpPr/>
          <p:nvPr/>
        </p:nvSpPr>
        <p:spPr>
          <a:xfrm>
            <a:off x="3520440" y="1783080"/>
            <a:ext cx="2286000" cy="402336"/>
          </a:xfrm>
          <a:prstGeom prst="rect">
            <a:avLst/>
          </a:prstGeom>
          <a:solidFill>
            <a:srgbClr val="00358E"/>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20440" y="1783080"/>
            <a:ext cx="2286000" cy="402336"/>
          </a:xfrm>
          <a:prstGeom prst="rect">
            <a:avLst/>
          </a:prstGeom>
          <a:noFill/>
        </p:spPr>
        <p:txBody>
          <a:bodyPr wrap="square" lIns="45720" tIns="18288" rIns="45720" bIns="18288" anchor="ctr">
            <a:noAutofit/>
          </a:bodyPr>
          <a:lstStyle/>
          <a:p>
            <a:pPr algn="ctr"/>
            <a:r>
              <a:rPr sz="1600" b="1" i="0">
                <a:solidFill>
                  <a:srgbClr val="FFFFFF"/>
                </a:solidFill>
                <a:latin typeface="Arial"/>
                <a:ea typeface="微软雅黑"/>
              </a:rPr>
              <a:t>Avg. Runtime</a:t>
            </a:r>
          </a:p>
        </p:txBody>
      </p:sp>
      <p:sp>
        <p:nvSpPr>
          <p:cNvPr id="12" name="Rectangle 11"/>
          <p:cNvSpPr/>
          <p:nvPr/>
        </p:nvSpPr>
        <p:spPr>
          <a:xfrm>
            <a:off x="685800" y="2185416"/>
            <a:ext cx="2834640" cy="402336"/>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185416"/>
            <a:ext cx="2651760" cy="402336"/>
          </a:xfrm>
          <a:prstGeom prst="rect">
            <a:avLst/>
          </a:prstGeom>
          <a:noFill/>
        </p:spPr>
        <p:txBody>
          <a:bodyPr wrap="square" lIns="45720" tIns="18288" rIns="45720" bIns="18288" anchor="ctr">
            <a:noAutofit/>
          </a:bodyPr>
          <a:lstStyle/>
          <a:p>
            <a:pPr algn="l"/>
            <a:r>
              <a:rPr sz="1600" b="1" i="0">
                <a:solidFill>
                  <a:srgbClr val="C00000"/>
                </a:solidFill>
                <a:latin typeface="Arial"/>
                <a:ea typeface="微软雅黑"/>
              </a:rPr>
              <a:t>ELATE</a:t>
            </a:r>
          </a:p>
        </p:txBody>
      </p:sp>
      <p:sp>
        <p:nvSpPr>
          <p:cNvPr id="14" name="Rectangle 13"/>
          <p:cNvSpPr/>
          <p:nvPr/>
        </p:nvSpPr>
        <p:spPr>
          <a:xfrm>
            <a:off x="3520440" y="2185416"/>
            <a:ext cx="2286000" cy="402336"/>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0440" y="2185416"/>
            <a:ext cx="2286000" cy="402336"/>
          </a:xfrm>
          <a:prstGeom prst="rect">
            <a:avLst/>
          </a:prstGeom>
          <a:noFill/>
        </p:spPr>
        <p:txBody>
          <a:bodyPr wrap="square" lIns="45720" tIns="18288" rIns="45720" bIns="18288" anchor="ctr">
            <a:noAutofit/>
          </a:bodyPr>
          <a:lstStyle/>
          <a:p>
            <a:pPr algn="ctr"/>
            <a:r>
              <a:rPr sz="1600" b="1" i="0">
                <a:solidFill>
                  <a:srgbClr val="C00000"/>
                </a:solidFill>
                <a:latin typeface="Arial"/>
                <a:ea typeface="微软雅黑"/>
              </a:rPr>
              <a:t>10.57 ms</a:t>
            </a:r>
          </a:p>
        </p:txBody>
      </p:sp>
      <p:sp>
        <p:nvSpPr>
          <p:cNvPr id="16" name="Rectangle 15"/>
          <p:cNvSpPr/>
          <p:nvPr/>
        </p:nvSpPr>
        <p:spPr>
          <a:xfrm>
            <a:off x="685800" y="2587752"/>
            <a:ext cx="2834640" cy="402336"/>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2587752"/>
            <a:ext cx="2651760" cy="402336"/>
          </a:xfrm>
          <a:prstGeom prst="rect">
            <a:avLst/>
          </a:prstGeom>
          <a:noFill/>
        </p:spPr>
        <p:txBody>
          <a:bodyPr wrap="square" lIns="45720" tIns="18288" rIns="45720" bIns="18288" anchor="ctr">
            <a:noAutofit/>
          </a:bodyPr>
          <a:lstStyle/>
          <a:p>
            <a:pPr algn="l"/>
            <a:r>
              <a:rPr sz="1600" b="0" i="0">
                <a:solidFill>
                  <a:srgbClr val="262626"/>
                </a:solidFill>
                <a:latin typeface="Arial"/>
                <a:ea typeface="微软雅黑"/>
              </a:rPr>
              <a:t>SP</a:t>
            </a:r>
          </a:p>
        </p:txBody>
      </p:sp>
      <p:sp>
        <p:nvSpPr>
          <p:cNvPr id="18" name="Rectangle 17"/>
          <p:cNvSpPr/>
          <p:nvPr/>
        </p:nvSpPr>
        <p:spPr>
          <a:xfrm>
            <a:off x="3520440" y="2587752"/>
            <a:ext cx="2286000" cy="402336"/>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20440" y="2587752"/>
            <a:ext cx="2286000" cy="402336"/>
          </a:xfrm>
          <a:prstGeom prst="rect">
            <a:avLst/>
          </a:prstGeom>
          <a:noFill/>
        </p:spPr>
        <p:txBody>
          <a:bodyPr wrap="square" lIns="45720" tIns="18288" rIns="45720" bIns="18288" anchor="ctr">
            <a:noAutofit/>
          </a:bodyPr>
          <a:lstStyle/>
          <a:p>
            <a:pPr algn="ctr"/>
            <a:r>
              <a:rPr sz="1600" b="0" i="0">
                <a:solidFill>
                  <a:srgbClr val="262626"/>
                </a:solidFill>
                <a:latin typeface="Arial"/>
                <a:ea typeface="微软雅黑"/>
              </a:rPr>
              <a:t>115.06 ms</a:t>
            </a:r>
          </a:p>
        </p:txBody>
      </p:sp>
      <p:sp>
        <p:nvSpPr>
          <p:cNvPr id="20" name="Rectangle 19"/>
          <p:cNvSpPr/>
          <p:nvPr/>
        </p:nvSpPr>
        <p:spPr>
          <a:xfrm>
            <a:off x="685800" y="2990088"/>
            <a:ext cx="2834640" cy="402336"/>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 y="2990088"/>
            <a:ext cx="2651760" cy="402336"/>
          </a:xfrm>
          <a:prstGeom prst="rect">
            <a:avLst/>
          </a:prstGeom>
          <a:noFill/>
        </p:spPr>
        <p:txBody>
          <a:bodyPr wrap="square" lIns="45720" tIns="18288" rIns="45720" bIns="18288" anchor="ctr">
            <a:noAutofit/>
          </a:bodyPr>
          <a:lstStyle/>
          <a:p>
            <a:pPr algn="l"/>
            <a:r>
              <a:rPr sz="1600" b="0" i="0">
                <a:solidFill>
                  <a:srgbClr val="262626"/>
                </a:solidFill>
                <a:latin typeface="Arial"/>
                <a:ea typeface="微软雅黑"/>
              </a:rPr>
              <a:t>SE</a:t>
            </a:r>
          </a:p>
        </p:txBody>
      </p:sp>
      <p:sp>
        <p:nvSpPr>
          <p:cNvPr id="22" name="Rectangle 21"/>
          <p:cNvSpPr/>
          <p:nvPr/>
        </p:nvSpPr>
        <p:spPr>
          <a:xfrm>
            <a:off x="3520440" y="2990088"/>
            <a:ext cx="2286000" cy="402336"/>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20440" y="2990088"/>
            <a:ext cx="2286000" cy="402336"/>
          </a:xfrm>
          <a:prstGeom prst="rect">
            <a:avLst/>
          </a:prstGeom>
          <a:noFill/>
        </p:spPr>
        <p:txBody>
          <a:bodyPr wrap="square" lIns="45720" tIns="18288" rIns="45720" bIns="18288" anchor="ctr">
            <a:noAutofit/>
          </a:bodyPr>
          <a:lstStyle/>
          <a:p>
            <a:pPr algn="ctr"/>
            <a:r>
              <a:rPr sz="1600" b="0" i="0">
                <a:solidFill>
                  <a:srgbClr val="262626"/>
                </a:solidFill>
                <a:latin typeface="Arial"/>
                <a:ea typeface="微软雅黑"/>
              </a:rPr>
              <a:t>122.97 ms</a:t>
            </a:r>
          </a:p>
        </p:txBody>
      </p:sp>
      <p:sp>
        <p:nvSpPr>
          <p:cNvPr id="24" name="Rectangle 23"/>
          <p:cNvSpPr/>
          <p:nvPr/>
        </p:nvSpPr>
        <p:spPr>
          <a:xfrm>
            <a:off x="685800" y="3392424"/>
            <a:ext cx="2834640" cy="402336"/>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3392424"/>
            <a:ext cx="2651760" cy="402336"/>
          </a:xfrm>
          <a:prstGeom prst="rect">
            <a:avLst/>
          </a:prstGeom>
          <a:noFill/>
        </p:spPr>
        <p:txBody>
          <a:bodyPr wrap="square" lIns="45720" tIns="18288" rIns="45720" bIns="18288" anchor="ctr">
            <a:noAutofit/>
          </a:bodyPr>
          <a:lstStyle/>
          <a:p>
            <a:pPr algn="l"/>
            <a:r>
              <a:rPr sz="1600" b="0" i="0">
                <a:solidFill>
                  <a:srgbClr val="262626"/>
                </a:solidFill>
                <a:latin typeface="Arial"/>
                <a:ea typeface="微软雅黑"/>
              </a:rPr>
              <a:t>LP (Gurobi)</a:t>
            </a:r>
          </a:p>
        </p:txBody>
      </p:sp>
      <p:sp>
        <p:nvSpPr>
          <p:cNvPr id="26" name="Rectangle 25"/>
          <p:cNvSpPr/>
          <p:nvPr/>
        </p:nvSpPr>
        <p:spPr>
          <a:xfrm>
            <a:off x="3520440" y="3392424"/>
            <a:ext cx="2286000" cy="402336"/>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20440" y="3392424"/>
            <a:ext cx="2286000" cy="402336"/>
          </a:xfrm>
          <a:prstGeom prst="rect">
            <a:avLst/>
          </a:prstGeom>
          <a:noFill/>
        </p:spPr>
        <p:txBody>
          <a:bodyPr wrap="square" lIns="45720" tIns="18288" rIns="45720" bIns="18288" anchor="ctr">
            <a:noAutofit/>
          </a:bodyPr>
          <a:lstStyle/>
          <a:p>
            <a:pPr algn="ctr"/>
            <a:r>
              <a:rPr sz="1600" b="0" i="0">
                <a:solidFill>
                  <a:srgbClr val="262626"/>
                </a:solidFill>
                <a:latin typeface="Arial"/>
                <a:ea typeface="微软雅黑"/>
              </a:rPr>
              <a:t>34.76 s</a:t>
            </a:r>
          </a:p>
        </p:txBody>
      </p:sp>
      <p:sp>
        <p:nvSpPr>
          <p:cNvPr id="28" name="Rectangle 27"/>
          <p:cNvSpPr/>
          <p:nvPr/>
        </p:nvSpPr>
        <p:spPr>
          <a:xfrm>
            <a:off x="685800" y="3794760"/>
            <a:ext cx="2834640" cy="402336"/>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2" y="3794760"/>
            <a:ext cx="2651760" cy="402336"/>
          </a:xfrm>
          <a:prstGeom prst="rect">
            <a:avLst/>
          </a:prstGeom>
          <a:noFill/>
        </p:spPr>
        <p:txBody>
          <a:bodyPr wrap="square" lIns="45720" tIns="18288" rIns="45720" bIns="18288" anchor="ctr">
            <a:noAutofit/>
          </a:bodyPr>
          <a:lstStyle/>
          <a:p>
            <a:pPr algn="l"/>
            <a:r>
              <a:rPr sz="1600" b="0" i="0">
                <a:solidFill>
                  <a:srgbClr val="262626"/>
                </a:solidFill>
                <a:latin typeface="Arial"/>
                <a:ea typeface="微软雅黑"/>
              </a:rPr>
              <a:t>CESLP</a:t>
            </a:r>
          </a:p>
        </p:txBody>
      </p:sp>
      <p:sp>
        <p:nvSpPr>
          <p:cNvPr id="30" name="Rectangle 29"/>
          <p:cNvSpPr/>
          <p:nvPr/>
        </p:nvSpPr>
        <p:spPr>
          <a:xfrm>
            <a:off x="3520440" y="3794760"/>
            <a:ext cx="2286000" cy="402336"/>
          </a:xfrm>
          <a:prstGeom prst="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520440" y="3794760"/>
            <a:ext cx="2286000" cy="402336"/>
          </a:xfrm>
          <a:prstGeom prst="rect">
            <a:avLst/>
          </a:prstGeom>
          <a:noFill/>
        </p:spPr>
        <p:txBody>
          <a:bodyPr wrap="square" lIns="45720" tIns="18288" rIns="45720" bIns="18288" anchor="ctr">
            <a:noAutofit/>
          </a:bodyPr>
          <a:lstStyle/>
          <a:p>
            <a:pPr algn="ctr"/>
            <a:r>
              <a:rPr sz="1600" b="0" i="0">
                <a:solidFill>
                  <a:srgbClr val="262626"/>
                </a:solidFill>
                <a:latin typeface="Arial"/>
                <a:ea typeface="微软雅黑"/>
              </a:rPr>
              <a:t>&gt; 60 s</a:t>
            </a:r>
          </a:p>
        </p:txBody>
      </p:sp>
      <p:sp>
        <p:nvSpPr>
          <p:cNvPr id="32" name="Rectangle 31"/>
          <p:cNvSpPr/>
          <p:nvPr/>
        </p:nvSpPr>
        <p:spPr>
          <a:xfrm>
            <a:off x="685800" y="4197096"/>
            <a:ext cx="2834640" cy="402336"/>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 y="4197096"/>
            <a:ext cx="2651760" cy="402336"/>
          </a:xfrm>
          <a:prstGeom prst="rect">
            <a:avLst/>
          </a:prstGeom>
          <a:noFill/>
        </p:spPr>
        <p:txBody>
          <a:bodyPr wrap="square" lIns="45720" tIns="18288" rIns="45720" bIns="18288" anchor="ctr">
            <a:noAutofit/>
          </a:bodyPr>
          <a:lstStyle/>
          <a:p>
            <a:pPr algn="l"/>
            <a:r>
              <a:rPr sz="1600" b="0" i="0">
                <a:solidFill>
                  <a:srgbClr val="262626"/>
                </a:solidFill>
                <a:latin typeface="Arial"/>
                <a:ea typeface="微软雅黑"/>
              </a:rPr>
              <a:t>LS</a:t>
            </a:r>
          </a:p>
        </p:txBody>
      </p:sp>
      <p:sp>
        <p:nvSpPr>
          <p:cNvPr id="34" name="Rectangle 33"/>
          <p:cNvSpPr/>
          <p:nvPr/>
        </p:nvSpPr>
        <p:spPr>
          <a:xfrm>
            <a:off x="3520440" y="4197096"/>
            <a:ext cx="2286000" cy="402336"/>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20440" y="4197096"/>
            <a:ext cx="2286000" cy="402336"/>
          </a:xfrm>
          <a:prstGeom prst="rect">
            <a:avLst/>
          </a:prstGeom>
          <a:noFill/>
        </p:spPr>
        <p:txBody>
          <a:bodyPr wrap="square" lIns="45720" tIns="18288" rIns="45720" bIns="18288" anchor="ctr">
            <a:noAutofit/>
          </a:bodyPr>
          <a:lstStyle/>
          <a:p>
            <a:pPr algn="ctr"/>
            <a:r>
              <a:rPr sz="1600" b="0" i="0">
                <a:solidFill>
                  <a:srgbClr val="262626"/>
                </a:solidFill>
                <a:latin typeface="Arial"/>
                <a:ea typeface="微软雅黑"/>
              </a:rPr>
              <a:t>&gt; 100 s</a:t>
            </a:r>
          </a:p>
        </p:txBody>
      </p:sp>
      <p:sp>
        <p:nvSpPr>
          <p:cNvPr id="36" name="Rectangle 35"/>
          <p:cNvSpPr/>
          <p:nvPr/>
        </p:nvSpPr>
        <p:spPr>
          <a:xfrm>
            <a:off x="6355080" y="1234440"/>
            <a:ext cx="5120640" cy="1828800"/>
          </a:xfrm>
          <a:prstGeom prst="rect">
            <a:avLst/>
          </a:prstGeom>
          <a:solidFill>
            <a:srgbClr val="EAF3EA"/>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1371600"/>
            <a:ext cx="5120640" cy="868680"/>
          </a:xfrm>
          <a:prstGeom prst="rect">
            <a:avLst/>
          </a:prstGeom>
          <a:noFill/>
        </p:spPr>
        <p:txBody>
          <a:bodyPr wrap="square" lIns="45720" tIns="18288" rIns="45720" bIns="18288" anchor="ctr">
            <a:noAutofit/>
          </a:bodyPr>
          <a:lstStyle/>
          <a:p>
            <a:pPr algn="ctr"/>
            <a:r>
              <a:rPr sz="4400" b="1" i="0">
                <a:solidFill>
                  <a:srgbClr val="2E7D32"/>
                </a:solidFill>
                <a:latin typeface="Arial"/>
                <a:ea typeface="微软雅黑"/>
              </a:rPr>
              <a:t>11–3288×</a:t>
            </a:r>
          </a:p>
        </p:txBody>
      </p:sp>
      <p:sp>
        <p:nvSpPr>
          <p:cNvPr id="38" name="TextBox 37"/>
          <p:cNvSpPr txBox="1"/>
          <p:nvPr/>
        </p:nvSpPr>
        <p:spPr>
          <a:xfrm>
            <a:off x="6355080" y="2331720"/>
            <a:ext cx="5120640" cy="548640"/>
          </a:xfrm>
          <a:prstGeom prst="rect">
            <a:avLst/>
          </a:prstGeom>
          <a:noFill/>
        </p:spPr>
        <p:txBody>
          <a:bodyPr wrap="square" lIns="45720" tIns="18288" rIns="45720" bIns="18288" anchor="t">
            <a:noAutofit/>
          </a:bodyPr>
          <a:lstStyle/>
          <a:p>
            <a:pPr algn="ctr"/>
            <a:r>
              <a:rPr sz="1500" b="0" i="0">
                <a:solidFill>
                  <a:srgbClr val="262626"/>
                </a:solidFill>
                <a:latin typeface="Arial"/>
                <a:ea typeface="微软雅黑"/>
              </a:rPr>
              <a:t>faster — millisecond-scale flow allocation</a:t>
            </a:r>
          </a:p>
        </p:txBody>
      </p:sp>
      <p:sp>
        <p:nvSpPr>
          <p:cNvPr id="39" name="Rectangle 38"/>
          <p:cNvSpPr/>
          <p:nvPr/>
        </p:nvSpPr>
        <p:spPr>
          <a:xfrm>
            <a:off x="6355080" y="3383279"/>
            <a:ext cx="82296"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56248" y="3337560"/>
            <a:ext cx="5120640" cy="420624"/>
          </a:xfrm>
          <a:prstGeom prst="rect">
            <a:avLst/>
          </a:prstGeom>
          <a:noFill/>
        </p:spPr>
        <p:txBody>
          <a:bodyPr wrap="square" lIns="45720" tIns="18288" rIns="45720" bIns="18288" anchor="ctr">
            <a:noAutofit/>
          </a:bodyPr>
          <a:lstStyle/>
          <a:p>
            <a:pPr algn="l"/>
            <a:r>
              <a:rPr sz="1800" b="1" i="0">
                <a:solidFill>
                  <a:srgbClr val="C00000"/>
                </a:solidFill>
                <a:latin typeface="Arial"/>
                <a:ea typeface="微软雅黑"/>
              </a:rPr>
              <a:t>Why ELATE is so fast</a:t>
            </a:r>
          </a:p>
        </p:txBody>
      </p:sp>
      <p:sp>
        <p:nvSpPr>
          <p:cNvPr id="41" name="TextBox 40"/>
          <p:cNvSpPr txBox="1"/>
          <p:nvPr/>
        </p:nvSpPr>
        <p:spPr>
          <a:xfrm>
            <a:off x="6355080" y="3886200"/>
            <a:ext cx="5120640" cy="1645920"/>
          </a:xfrm>
          <a:prstGeom prst="rect">
            <a:avLst/>
          </a:prstGeom>
          <a:noFill/>
        </p:spPr>
        <p:txBody>
          <a:bodyPr wrap="square" lIns="73152" tIns="36576" rIns="73152" bIns="36576" anchor="t">
            <a:noAutofit/>
          </a:bodyPr>
          <a:lstStyle/>
          <a:p>
            <a:pPr algn="l">
              <a:spcAft>
                <a:spcPts val="600"/>
              </a:spcAft>
            </a:pPr>
            <a:r>
              <a:rPr sz="1600" b="0" i="0">
                <a:solidFill>
                  <a:srgbClr val="262626"/>
                </a:solidFill>
                <a:latin typeface="Arial"/>
                <a:ea typeface="微软雅黑"/>
              </a:rPr>
              <a:t>Training is offline — inference is pure feedforward.</a:t>
            </a:r>
          </a:p>
          <a:p>
            <a:pPr algn="l">
              <a:spcAft>
                <a:spcPts val="600"/>
              </a:spcAft>
            </a:pPr>
            <a:r>
              <a:rPr sz="1600" b="0" i="0">
                <a:solidFill>
                  <a:srgbClr val="262626"/>
                </a:solidFill>
                <a:latin typeface="Arial"/>
                <a:ea typeface="微软雅黑"/>
              </a:rPr>
              <a:t>Fully parallelizable matrix operations on GPU.</a:t>
            </a:r>
          </a:p>
          <a:p>
            <a:pPr algn="l">
              <a:spcAft>
                <a:spcPts val="600"/>
              </a:spcAft>
            </a:pPr>
            <a:r>
              <a:rPr sz="1600" b="0" i="0">
                <a:solidFill>
                  <a:srgbClr val="262626"/>
                </a:solidFill>
                <a:latin typeface="Arial"/>
                <a:ea typeface="微软雅黑"/>
              </a:rPr>
              <a:t>No iterative solver bottleneck (unlike LP / CESLP).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Ablation Study: Every Component Matters</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19</a:t>
            </a:r>
          </a:p>
        </p:txBody>
      </p:sp>
      <p:sp>
        <p:nvSpPr>
          <p:cNvPr id="6" name="Rectangle 5"/>
          <p:cNvSpPr/>
          <p:nvPr/>
        </p:nvSpPr>
        <p:spPr>
          <a:xfrm>
            <a:off x="548640" y="1234440"/>
            <a:ext cx="91440" cy="10515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234440"/>
            <a:ext cx="534924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1325880"/>
            <a:ext cx="5029200" cy="365760"/>
          </a:xfrm>
          <a:prstGeom prst="rect">
            <a:avLst/>
          </a:prstGeom>
          <a:noFill/>
        </p:spPr>
        <p:txBody>
          <a:bodyPr wrap="square" lIns="45720" tIns="18288" rIns="45720" bIns="18288" anchor="t">
            <a:noAutofit/>
          </a:bodyPr>
          <a:lstStyle/>
          <a:p>
            <a:pPr algn="l"/>
            <a:r>
              <a:rPr sz="1700" b="1" i="0">
                <a:solidFill>
                  <a:srgbClr val="C00000"/>
                </a:solidFill>
                <a:latin typeface="Arial"/>
                <a:ea typeface="微软雅黑"/>
              </a:rPr>
              <a:t>ELATE w/o Flow Splitting</a:t>
            </a:r>
          </a:p>
        </p:txBody>
      </p:sp>
      <p:sp>
        <p:nvSpPr>
          <p:cNvPr id="9" name="TextBox 8"/>
          <p:cNvSpPr txBox="1"/>
          <p:nvPr/>
        </p:nvSpPr>
        <p:spPr>
          <a:xfrm>
            <a:off x="841248" y="1691640"/>
            <a:ext cx="5029200" cy="548640"/>
          </a:xfrm>
          <a:prstGeom prst="rect">
            <a:avLst/>
          </a:prstGeom>
          <a:noFill/>
        </p:spPr>
        <p:txBody>
          <a:bodyPr wrap="square" lIns="45720" tIns="18288" rIns="45720" bIns="18288" anchor="t">
            <a:noAutofit/>
          </a:bodyPr>
          <a:lstStyle/>
          <a:p>
            <a:pPr algn="l"/>
            <a:r>
              <a:rPr sz="1400" b="0" i="0">
                <a:solidFill>
                  <a:srgbClr val="262626"/>
                </a:solidFill>
                <a:latin typeface="Arial"/>
                <a:ea typeface="微软雅黑"/>
              </a:rPr>
              <a:t>Removing elephant-mice separation overwhelms the network with state complexity.</a:t>
            </a:r>
          </a:p>
        </p:txBody>
      </p:sp>
      <p:sp>
        <p:nvSpPr>
          <p:cNvPr id="10" name="Rectangle 9"/>
          <p:cNvSpPr/>
          <p:nvPr/>
        </p:nvSpPr>
        <p:spPr>
          <a:xfrm>
            <a:off x="548640" y="2441448"/>
            <a:ext cx="91440" cy="1051560"/>
          </a:xfrm>
          <a:prstGeom prst="rect">
            <a:avLst/>
          </a:prstGeom>
          <a:solidFill>
            <a:srgbClr val="2272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441448"/>
            <a:ext cx="534924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2532888"/>
            <a:ext cx="5029200" cy="365760"/>
          </a:xfrm>
          <a:prstGeom prst="rect">
            <a:avLst/>
          </a:prstGeom>
          <a:noFill/>
        </p:spPr>
        <p:txBody>
          <a:bodyPr wrap="square" lIns="45720" tIns="18288" rIns="45720" bIns="18288" anchor="t">
            <a:noAutofit/>
          </a:bodyPr>
          <a:lstStyle/>
          <a:p>
            <a:pPr algn="l"/>
            <a:r>
              <a:rPr sz="1700" b="1" i="0">
                <a:solidFill>
                  <a:srgbClr val="2272AB"/>
                </a:solidFill>
                <a:latin typeface="Arial"/>
                <a:ea typeface="微软雅黑"/>
              </a:rPr>
              <a:t>ELATE w/ Naive GNN</a:t>
            </a:r>
          </a:p>
        </p:txBody>
      </p:sp>
      <p:sp>
        <p:nvSpPr>
          <p:cNvPr id="13" name="TextBox 12"/>
          <p:cNvSpPr txBox="1"/>
          <p:nvPr/>
        </p:nvSpPr>
        <p:spPr>
          <a:xfrm>
            <a:off x="841248" y="2898648"/>
            <a:ext cx="5029200" cy="548640"/>
          </a:xfrm>
          <a:prstGeom prst="rect">
            <a:avLst/>
          </a:prstGeom>
          <a:noFill/>
        </p:spPr>
        <p:txBody>
          <a:bodyPr wrap="square" lIns="45720" tIns="18288" rIns="45720" bIns="18288" anchor="t">
            <a:noAutofit/>
          </a:bodyPr>
          <a:lstStyle/>
          <a:p>
            <a:pPr algn="l"/>
            <a:r>
              <a:rPr sz="1400" b="0" i="0">
                <a:solidFill>
                  <a:srgbClr val="262626"/>
                </a:solidFill>
                <a:latin typeface="Arial"/>
                <a:ea typeface="微软雅黑"/>
              </a:rPr>
              <a:t>A node-based GNN instead of the edge-centric one drops sharply under POP traffic.</a:t>
            </a:r>
          </a:p>
        </p:txBody>
      </p:sp>
      <p:sp>
        <p:nvSpPr>
          <p:cNvPr id="14" name="Rectangle 13"/>
          <p:cNvSpPr/>
          <p:nvPr/>
        </p:nvSpPr>
        <p:spPr>
          <a:xfrm>
            <a:off x="548640" y="3648456"/>
            <a:ext cx="91440" cy="1051560"/>
          </a:xfrm>
          <a:prstGeom prst="rect">
            <a:avLst/>
          </a:prstGeom>
          <a:solidFill>
            <a:srgbClr val="007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648456"/>
            <a:ext cx="534924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 y="3739896"/>
            <a:ext cx="5029200" cy="365760"/>
          </a:xfrm>
          <a:prstGeom prst="rect">
            <a:avLst/>
          </a:prstGeom>
          <a:noFill/>
        </p:spPr>
        <p:txBody>
          <a:bodyPr wrap="square" lIns="45720" tIns="18288" rIns="45720" bIns="18288" anchor="t">
            <a:noAutofit/>
          </a:bodyPr>
          <a:lstStyle/>
          <a:p>
            <a:pPr algn="l"/>
            <a:r>
              <a:rPr sz="1700" b="1" i="0">
                <a:solidFill>
                  <a:srgbClr val="007C91"/>
                </a:solidFill>
                <a:latin typeface="Arial"/>
                <a:ea typeface="微软雅黑"/>
              </a:rPr>
              <a:t>ELATE w/ Direct Loss</a:t>
            </a:r>
          </a:p>
        </p:txBody>
      </p:sp>
      <p:sp>
        <p:nvSpPr>
          <p:cNvPr id="17" name="TextBox 16"/>
          <p:cNvSpPr txBox="1"/>
          <p:nvPr/>
        </p:nvSpPr>
        <p:spPr>
          <a:xfrm>
            <a:off x="841248" y="4105656"/>
            <a:ext cx="5029200" cy="548640"/>
          </a:xfrm>
          <a:prstGeom prst="rect">
            <a:avLst/>
          </a:prstGeom>
          <a:noFill/>
        </p:spPr>
        <p:txBody>
          <a:bodyPr wrap="square" lIns="45720" tIns="18288" rIns="45720" bIns="18288" anchor="t">
            <a:noAutofit/>
          </a:bodyPr>
          <a:lstStyle/>
          <a:p>
            <a:pPr algn="l"/>
            <a:r>
              <a:rPr sz="1400" b="0" i="0">
                <a:solidFill>
                  <a:srgbClr val="262626"/>
                </a:solidFill>
                <a:latin typeface="Arial"/>
                <a:ea typeface="微软雅黑"/>
              </a:rPr>
              <a:t>Surrogate-loss minimization instead of MARL degrades load balancing and robustness.</a:t>
            </a:r>
          </a:p>
        </p:txBody>
      </p:sp>
      <p:sp>
        <p:nvSpPr>
          <p:cNvPr id="18" name="Rectangle 17"/>
          <p:cNvSpPr/>
          <p:nvPr/>
        </p:nvSpPr>
        <p:spPr>
          <a:xfrm>
            <a:off x="548640" y="4873752"/>
            <a:ext cx="5440680" cy="786384"/>
          </a:xfrm>
          <a:prstGeom prst="rect">
            <a:avLst/>
          </a:prstGeom>
          <a:solidFill>
            <a:srgbClr val="EAF3EA"/>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892040"/>
            <a:ext cx="5440680" cy="749808"/>
          </a:xfrm>
          <a:prstGeom prst="rect">
            <a:avLst/>
          </a:prstGeom>
          <a:noFill/>
        </p:spPr>
        <p:txBody>
          <a:bodyPr wrap="square" lIns="45720" tIns="18288" rIns="45720" bIns="18288" anchor="ctr">
            <a:noAutofit/>
          </a:bodyPr>
          <a:lstStyle/>
          <a:p>
            <a:pPr algn="ctr"/>
            <a:r>
              <a:rPr sz="1400" b="1" i="0">
                <a:solidFill>
                  <a:srgbClr val="2E7D32"/>
                </a:solidFill>
                <a:latin typeface="Arial"/>
                <a:ea typeface="微软雅黑"/>
              </a:rPr>
              <a:t>Full ELATE consistently reaches the lowest Normalized MLU — validating the synergistic design.</a:t>
            </a:r>
          </a:p>
        </p:txBody>
      </p:sp>
      <p:sp>
        <p:nvSpPr>
          <p:cNvPr id="20" name="Rectangle 19"/>
          <p:cNvSpPr/>
          <p:nvPr/>
        </p:nvSpPr>
        <p:spPr>
          <a:xfrm>
            <a:off x="6135624" y="1400405"/>
            <a:ext cx="5559552" cy="3782868"/>
          </a:xfrm>
          <a:prstGeom prst="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ablation.png"/>
          <p:cNvPicPr>
            <a:picLocks noChangeAspect="1"/>
          </p:cNvPicPr>
          <p:nvPr/>
        </p:nvPicPr>
        <p:blipFill>
          <a:blip r:embed="rId4"/>
          <a:stretch>
            <a:fillRect/>
          </a:stretch>
        </p:blipFill>
        <p:spPr>
          <a:xfrm>
            <a:off x="6172200" y="1436981"/>
            <a:ext cx="5486400" cy="3709716"/>
          </a:xfrm>
          <a:prstGeom prst="rect">
            <a:avLst/>
          </a:prstGeom>
        </p:spPr>
      </p:pic>
      <p:sp>
        <p:nvSpPr>
          <p:cNvPr id="22" name="TextBox 21"/>
          <p:cNvSpPr txBox="1"/>
          <p:nvPr/>
        </p:nvSpPr>
        <p:spPr>
          <a:xfrm>
            <a:off x="6172200" y="5212080"/>
            <a:ext cx="5486400" cy="320040"/>
          </a:xfrm>
          <a:prstGeom prst="rect">
            <a:avLst/>
          </a:prstGeom>
          <a:noFill/>
        </p:spPr>
        <p:txBody>
          <a:bodyPr wrap="square" lIns="45720" tIns="18288" rIns="45720" bIns="18288" anchor="t">
            <a:noAutofit/>
          </a:bodyPr>
          <a:lstStyle/>
          <a:p>
            <a:pPr algn="ctr"/>
            <a:r>
              <a:rPr sz="1300" b="0" i="1">
                <a:solidFill>
                  <a:srgbClr val="707070"/>
                </a:solidFill>
                <a:latin typeface="Arial"/>
                <a:ea typeface="微软雅黑"/>
              </a:rPr>
              <a:t>Normalized MLU across ablated variants (GDP vs POP).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328416" cy="6858000"/>
          </a:xfrm>
          <a:prstGeom prst="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 y="3017520"/>
            <a:ext cx="3108960" cy="731520"/>
          </a:xfrm>
          <a:prstGeom prst="rect">
            <a:avLst/>
          </a:prstGeom>
          <a:noFill/>
        </p:spPr>
        <p:txBody>
          <a:bodyPr wrap="square" lIns="45720" tIns="18288" rIns="45720" bIns="18288" anchor="ctr">
            <a:noAutofit/>
          </a:bodyPr>
          <a:lstStyle/>
          <a:p>
            <a:pPr algn="ctr"/>
            <a:r>
              <a:rPr sz="3800" b="1" i="0">
                <a:solidFill>
                  <a:srgbClr val="FFFFFF"/>
                </a:solidFill>
                <a:latin typeface="Arial"/>
                <a:ea typeface="微软雅黑"/>
              </a:rPr>
              <a:t>CONTENTS</a:t>
            </a:r>
          </a:p>
        </p:txBody>
      </p:sp>
      <p:sp>
        <p:nvSpPr>
          <p:cNvPr id="4" name="TextBox 3"/>
          <p:cNvSpPr txBox="1"/>
          <p:nvPr/>
        </p:nvSpPr>
        <p:spPr>
          <a:xfrm>
            <a:off x="109728" y="3794760"/>
            <a:ext cx="3108960" cy="411480"/>
          </a:xfrm>
          <a:prstGeom prst="rect">
            <a:avLst/>
          </a:prstGeom>
          <a:noFill/>
        </p:spPr>
        <p:txBody>
          <a:bodyPr wrap="square" lIns="45720" tIns="18288" rIns="45720" bIns="18288" anchor="t">
            <a:noAutofit/>
          </a:bodyPr>
          <a:lstStyle/>
          <a:p>
            <a:pPr algn="ctr"/>
            <a:r>
              <a:rPr sz="1800" b="1" i="0">
                <a:solidFill>
                  <a:srgbClr val="BFD1F0"/>
                </a:solidFill>
                <a:latin typeface="Arial"/>
                <a:ea typeface="微软雅黑"/>
              </a:rPr>
              <a:t>ELATE</a:t>
            </a:r>
          </a:p>
        </p:txBody>
      </p:sp>
      <p:pic>
        <p:nvPicPr>
          <p:cNvPr id="5" name="Picture 4"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6" name="Rounded Rectangle 5"/>
          <p:cNvSpPr/>
          <p:nvPr/>
        </p:nvSpPr>
        <p:spPr>
          <a:xfrm>
            <a:off x="4526280" y="1600200"/>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01</a:t>
            </a:r>
          </a:p>
        </p:txBody>
      </p:sp>
      <p:sp>
        <p:nvSpPr>
          <p:cNvPr id="7" name="Rounded Rectangle 6"/>
          <p:cNvSpPr/>
          <p:nvPr/>
        </p:nvSpPr>
        <p:spPr>
          <a:xfrm>
            <a:off x="5577840" y="1600200"/>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Introduction</a:t>
            </a:r>
          </a:p>
        </p:txBody>
      </p:sp>
      <p:sp>
        <p:nvSpPr>
          <p:cNvPr id="8" name="Rounded Rectangle 7"/>
          <p:cNvSpPr/>
          <p:nvPr/>
        </p:nvSpPr>
        <p:spPr>
          <a:xfrm>
            <a:off x="4526280" y="2532888"/>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02</a:t>
            </a:r>
          </a:p>
        </p:txBody>
      </p:sp>
      <p:sp>
        <p:nvSpPr>
          <p:cNvPr id="9" name="Rounded Rectangle 8"/>
          <p:cNvSpPr/>
          <p:nvPr/>
        </p:nvSpPr>
        <p:spPr>
          <a:xfrm>
            <a:off x="5577840" y="2532888"/>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Problem Formulation</a:t>
            </a:r>
          </a:p>
        </p:txBody>
      </p:sp>
      <p:sp>
        <p:nvSpPr>
          <p:cNvPr id="10" name="Rounded Rectangle 9"/>
          <p:cNvSpPr/>
          <p:nvPr/>
        </p:nvSpPr>
        <p:spPr>
          <a:xfrm>
            <a:off x="4526280" y="3465576"/>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03</a:t>
            </a:r>
          </a:p>
        </p:txBody>
      </p:sp>
      <p:sp>
        <p:nvSpPr>
          <p:cNvPr id="11" name="Rounded Rectangle 10"/>
          <p:cNvSpPr/>
          <p:nvPr/>
        </p:nvSpPr>
        <p:spPr>
          <a:xfrm>
            <a:off x="5577840" y="3465576"/>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Proposed ELATE Method</a:t>
            </a:r>
          </a:p>
        </p:txBody>
      </p:sp>
      <p:sp>
        <p:nvSpPr>
          <p:cNvPr id="12" name="Rounded Rectangle 11"/>
          <p:cNvSpPr/>
          <p:nvPr/>
        </p:nvSpPr>
        <p:spPr>
          <a:xfrm>
            <a:off x="4526280" y="4398264"/>
            <a:ext cx="502920" cy="502920"/>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04</a:t>
            </a:r>
          </a:p>
        </p:txBody>
      </p:sp>
      <p:sp>
        <p:nvSpPr>
          <p:cNvPr id="13" name="Rounded Rectangle 12"/>
          <p:cNvSpPr/>
          <p:nvPr/>
        </p:nvSpPr>
        <p:spPr>
          <a:xfrm>
            <a:off x="5577840" y="4398264"/>
            <a:ext cx="5394960" cy="502920"/>
          </a:xfrm>
          <a:prstGeom prst="roundRect">
            <a:avLst/>
          </a:prstGeom>
          <a:solidFill>
            <a:srgbClr val="F2F4F7"/>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0">
                <a:solidFill>
                  <a:srgbClr val="262626"/>
                </a:solidFill>
                <a:latin typeface="Arial"/>
                <a:ea typeface="微软雅黑"/>
              </a:rPr>
              <a:t>Simulation Results</a:t>
            </a:r>
          </a:p>
        </p:txBody>
      </p:sp>
      <p:sp>
        <p:nvSpPr>
          <p:cNvPr id="14" name="Rounded Rectangle 13"/>
          <p:cNvSpPr/>
          <p:nvPr/>
        </p:nvSpPr>
        <p:spPr>
          <a:xfrm>
            <a:off x="4526280" y="5330952"/>
            <a:ext cx="502920" cy="50292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05</a:t>
            </a:r>
          </a:p>
        </p:txBody>
      </p:sp>
      <p:sp>
        <p:nvSpPr>
          <p:cNvPr id="15" name="Rounded Rectangle 14"/>
          <p:cNvSpPr/>
          <p:nvPr/>
        </p:nvSpPr>
        <p:spPr>
          <a:xfrm>
            <a:off x="5577840" y="5330952"/>
            <a:ext cx="5394960" cy="502920"/>
          </a:xfrm>
          <a:prstGeom prst="roundRect">
            <a:avLst/>
          </a:prstGeom>
          <a:solidFill>
            <a:srgbClr val="FBE7E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2000" b="1">
                <a:solidFill>
                  <a:srgbClr val="C00000"/>
                </a:solidFill>
                <a:latin typeface="Arial"/>
                <a:ea typeface="微软雅黑"/>
              </a:rPr>
              <a:t>Conclusion</a:t>
            </a:r>
          </a:p>
        </p:txBody>
      </p:sp>
      <p:sp>
        <p:nvSpPr>
          <p:cNvPr id="16" name="Right Arrow 15"/>
          <p:cNvSpPr/>
          <p:nvPr/>
        </p:nvSpPr>
        <p:spPr>
          <a:xfrm>
            <a:off x="3703320" y="5376672"/>
            <a:ext cx="502920" cy="402336"/>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74320"/>
            <a:ext cx="9326880" cy="566928"/>
          </a:xfrm>
          <a:prstGeom prst="rect">
            <a:avLst/>
          </a:prstGeom>
          <a:noFill/>
        </p:spPr>
        <p:txBody>
          <a:bodyPr wrap="square" lIns="45720" tIns="18288" rIns="45720" bIns="18288" anchor="ctr">
            <a:noAutofit/>
          </a:bodyPr>
          <a:lstStyle/>
          <a:p>
            <a:pPr algn="l"/>
            <a:r>
              <a:rPr sz="3200" b="1" i="0">
                <a:solidFill>
                  <a:srgbClr val="262626"/>
                </a:solidFill>
                <a:latin typeface="Arial"/>
                <a:ea typeface="微软雅黑"/>
              </a:rPr>
              <a:t>Conclusion</a:t>
            </a:r>
          </a:p>
        </p:txBody>
      </p:sp>
      <p:sp>
        <p:nvSpPr>
          <p:cNvPr id="3" name="Rectangle 2"/>
          <p:cNvSpPr/>
          <p:nvPr/>
        </p:nvSpPr>
        <p:spPr>
          <a:xfrm>
            <a:off x="868680" y="896112"/>
            <a:ext cx="8823960" cy="25603"/>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10972800" y="109728"/>
            <a:ext cx="1051560" cy="1051560"/>
          </a:xfrm>
          <a:prstGeom prst="rect">
            <a:avLst/>
          </a:prstGeom>
        </p:spPr>
      </p:pic>
      <p:sp>
        <p:nvSpPr>
          <p:cNvPr id="5" name="TextBox 4"/>
          <p:cNvSpPr txBox="1"/>
          <p:nvPr/>
        </p:nvSpPr>
        <p:spPr>
          <a:xfrm>
            <a:off x="10799064" y="6409944"/>
            <a:ext cx="1389888" cy="365760"/>
          </a:xfrm>
          <a:prstGeom prst="rect">
            <a:avLst/>
          </a:prstGeom>
          <a:noFill/>
        </p:spPr>
        <p:txBody>
          <a:bodyPr wrap="square" lIns="45720" tIns="18288" rIns="45720" bIns="18288" anchor="t">
            <a:noAutofit/>
          </a:bodyPr>
          <a:lstStyle/>
          <a:p>
            <a:pPr algn="ctr"/>
            <a:r>
              <a:rPr sz="1200" b="0" i="0">
                <a:solidFill>
                  <a:srgbClr val="707070"/>
                </a:solidFill>
                <a:latin typeface="Arial"/>
                <a:ea typeface="微软雅黑"/>
              </a:rPr>
              <a:t>21</a:t>
            </a:r>
          </a:p>
        </p:txBody>
      </p:sp>
      <p:sp>
        <p:nvSpPr>
          <p:cNvPr id="6" name="Rounded Rectangle 5"/>
          <p:cNvSpPr/>
          <p:nvPr/>
        </p:nvSpPr>
        <p:spPr>
          <a:xfrm>
            <a:off x="731520" y="1289304"/>
            <a:ext cx="530352" cy="530352"/>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1</a:t>
            </a:r>
          </a:p>
        </p:txBody>
      </p:sp>
      <p:sp>
        <p:nvSpPr>
          <p:cNvPr id="7" name="TextBox 6"/>
          <p:cNvSpPr txBox="1"/>
          <p:nvPr/>
        </p:nvSpPr>
        <p:spPr>
          <a:xfrm>
            <a:off x="1508760" y="1234440"/>
            <a:ext cx="10058400" cy="384048"/>
          </a:xfrm>
          <a:prstGeom prst="rect">
            <a:avLst/>
          </a:prstGeom>
          <a:noFill/>
        </p:spPr>
        <p:txBody>
          <a:bodyPr wrap="square" lIns="45720" tIns="18288" rIns="45720" bIns="18288" anchor="t">
            <a:noAutofit/>
          </a:bodyPr>
          <a:lstStyle/>
          <a:p>
            <a:pPr algn="l"/>
            <a:r>
              <a:rPr sz="2000" b="1" i="0">
                <a:solidFill>
                  <a:srgbClr val="262626"/>
                </a:solidFill>
                <a:latin typeface="Arial"/>
                <a:ea typeface="微软雅黑"/>
              </a:rPr>
              <a:t>Heavy-Tailed Exploitation</a:t>
            </a:r>
          </a:p>
        </p:txBody>
      </p:sp>
      <p:sp>
        <p:nvSpPr>
          <p:cNvPr id="8" name="TextBox 7"/>
          <p:cNvSpPr txBox="1"/>
          <p:nvPr/>
        </p:nvSpPr>
        <p:spPr>
          <a:xfrm>
            <a:off x="1508760" y="1636776"/>
            <a:ext cx="10058400" cy="457200"/>
          </a:xfrm>
          <a:prstGeom prst="rect">
            <a:avLst/>
          </a:prstGeom>
          <a:noFill/>
        </p:spPr>
        <p:txBody>
          <a:bodyPr wrap="square" lIns="45720" tIns="18288" rIns="45720" bIns="18288" anchor="t">
            <a:noAutofit/>
          </a:bodyPr>
          <a:lstStyle/>
          <a:p>
            <a:pPr algn="l"/>
            <a:r>
              <a:rPr sz="1600" b="0" i="0">
                <a:solidFill>
                  <a:srgbClr val="707070"/>
                </a:solidFill>
                <a:latin typeface="Arial"/>
                <a:ea typeface="微软雅黑"/>
              </a:rPr>
              <a:t>Elephant/mice flow decomposition drastically reduces solution-space complexity.</a:t>
            </a:r>
          </a:p>
        </p:txBody>
      </p:sp>
      <p:sp>
        <p:nvSpPr>
          <p:cNvPr id="9" name="Rounded Rectangle 8"/>
          <p:cNvSpPr/>
          <p:nvPr/>
        </p:nvSpPr>
        <p:spPr>
          <a:xfrm>
            <a:off x="731520" y="2368296"/>
            <a:ext cx="530352" cy="530352"/>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2</a:t>
            </a:r>
          </a:p>
        </p:txBody>
      </p:sp>
      <p:sp>
        <p:nvSpPr>
          <p:cNvPr id="10" name="TextBox 9"/>
          <p:cNvSpPr txBox="1"/>
          <p:nvPr/>
        </p:nvSpPr>
        <p:spPr>
          <a:xfrm>
            <a:off x="1508760" y="2313432"/>
            <a:ext cx="10058400" cy="384048"/>
          </a:xfrm>
          <a:prstGeom prst="rect">
            <a:avLst/>
          </a:prstGeom>
          <a:noFill/>
        </p:spPr>
        <p:txBody>
          <a:bodyPr wrap="square" lIns="45720" tIns="18288" rIns="45720" bIns="18288" anchor="t">
            <a:noAutofit/>
          </a:bodyPr>
          <a:lstStyle/>
          <a:p>
            <a:pPr algn="l"/>
            <a:r>
              <a:rPr sz="2000" b="1" i="0">
                <a:solidFill>
                  <a:srgbClr val="262626"/>
                </a:solidFill>
                <a:latin typeface="Arial"/>
                <a:ea typeface="微软雅黑"/>
              </a:rPr>
              <a:t>Topology-Aware Learning</a:t>
            </a:r>
          </a:p>
        </p:txBody>
      </p:sp>
      <p:sp>
        <p:nvSpPr>
          <p:cNvPr id="11" name="TextBox 10"/>
          <p:cNvSpPr txBox="1"/>
          <p:nvPr/>
        </p:nvSpPr>
        <p:spPr>
          <a:xfrm>
            <a:off x="1508760" y="2715768"/>
            <a:ext cx="10058400" cy="457200"/>
          </a:xfrm>
          <a:prstGeom prst="rect">
            <a:avLst/>
          </a:prstGeom>
          <a:noFill/>
        </p:spPr>
        <p:txBody>
          <a:bodyPr wrap="square" lIns="45720" tIns="18288" rIns="45720" bIns="18288" anchor="t">
            <a:noAutofit/>
          </a:bodyPr>
          <a:lstStyle/>
          <a:p>
            <a:pPr algn="l"/>
            <a:r>
              <a:rPr sz="1600" b="0" i="0">
                <a:solidFill>
                  <a:srgbClr val="707070"/>
                </a:solidFill>
                <a:latin typeface="Arial"/>
                <a:ea typeface="微软雅黑"/>
              </a:rPr>
              <a:t>A bipartite GNN captures path-link interference that node-centric models miss.</a:t>
            </a:r>
          </a:p>
        </p:txBody>
      </p:sp>
      <p:sp>
        <p:nvSpPr>
          <p:cNvPr id="12" name="Rounded Rectangle 11"/>
          <p:cNvSpPr/>
          <p:nvPr/>
        </p:nvSpPr>
        <p:spPr>
          <a:xfrm>
            <a:off x="731520" y="3447288"/>
            <a:ext cx="530352" cy="530352"/>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3</a:t>
            </a:r>
          </a:p>
        </p:txBody>
      </p:sp>
      <p:sp>
        <p:nvSpPr>
          <p:cNvPr id="13" name="TextBox 12"/>
          <p:cNvSpPr txBox="1"/>
          <p:nvPr/>
        </p:nvSpPr>
        <p:spPr>
          <a:xfrm>
            <a:off x="1508760" y="3392424"/>
            <a:ext cx="10058400" cy="384048"/>
          </a:xfrm>
          <a:prstGeom prst="rect">
            <a:avLst/>
          </a:prstGeom>
          <a:noFill/>
        </p:spPr>
        <p:txBody>
          <a:bodyPr wrap="square" lIns="45720" tIns="18288" rIns="45720" bIns="18288" anchor="t">
            <a:noAutofit/>
          </a:bodyPr>
          <a:lstStyle/>
          <a:p>
            <a:pPr algn="l"/>
            <a:r>
              <a:rPr sz="2000" b="1" i="0">
                <a:solidFill>
                  <a:srgbClr val="262626"/>
                </a:solidFill>
                <a:latin typeface="Arial"/>
                <a:ea typeface="微软雅黑"/>
              </a:rPr>
              <a:t>Adaptive Multi-Agent Routing</a:t>
            </a:r>
          </a:p>
        </p:txBody>
      </p:sp>
      <p:sp>
        <p:nvSpPr>
          <p:cNvPr id="14" name="TextBox 13"/>
          <p:cNvSpPr txBox="1"/>
          <p:nvPr/>
        </p:nvSpPr>
        <p:spPr>
          <a:xfrm>
            <a:off x="1508760" y="3794760"/>
            <a:ext cx="10058400" cy="457200"/>
          </a:xfrm>
          <a:prstGeom prst="rect">
            <a:avLst/>
          </a:prstGeom>
          <a:noFill/>
        </p:spPr>
        <p:txBody>
          <a:bodyPr wrap="square" lIns="45720" tIns="18288" rIns="45720" bIns="18288" anchor="t">
            <a:noAutofit/>
          </a:bodyPr>
          <a:lstStyle/>
          <a:p>
            <a:pPr algn="l"/>
            <a:r>
              <a:rPr sz="1600" b="0" i="0">
                <a:solidFill>
                  <a:srgbClr val="707070"/>
                </a:solidFill>
                <a:latin typeface="Arial"/>
                <a:ea typeface="微软雅黑"/>
              </a:rPr>
              <a:t>MARL with counterfactual credit assignment enables robust, decentralized routing.</a:t>
            </a:r>
          </a:p>
        </p:txBody>
      </p:sp>
      <p:sp>
        <p:nvSpPr>
          <p:cNvPr id="15" name="Rounded Rectangle 14"/>
          <p:cNvSpPr/>
          <p:nvPr/>
        </p:nvSpPr>
        <p:spPr>
          <a:xfrm>
            <a:off x="731520" y="4526279"/>
            <a:ext cx="530352" cy="530352"/>
          </a:xfrm>
          <a:prstGeom prst="roundRect">
            <a:avLst/>
          </a:prstGeom>
          <a:solidFill>
            <a:srgbClr val="00358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2000" b="1">
                <a:solidFill>
                  <a:srgbClr val="FFFFFF"/>
                </a:solidFill>
                <a:latin typeface="Arial"/>
                <a:ea typeface="微软雅黑"/>
              </a:rPr>
              <a:t>4</a:t>
            </a:r>
          </a:p>
        </p:txBody>
      </p:sp>
      <p:sp>
        <p:nvSpPr>
          <p:cNvPr id="16" name="TextBox 15"/>
          <p:cNvSpPr txBox="1"/>
          <p:nvPr/>
        </p:nvSpPr>
        <p:spPr>
          <a:xfrm>
            <a:off x="1508760" y="4471416"/>
            <a:ext cx="10058400" cy="384048"/>
          </a:xfrm>
          <a:prstGeom prst="rect">
            <a:avLst/>
          </a:prstGeom>
          <a:noFill/>
        </p:spPr>
        <p:txBody>
          <a:bodyPr wrap="square" lIns="45720" tIns="18288" rIns="45720" bIns="18288" anchor="t">
            <a:noAutofit/>
          </a:bodyPr>
          <a:lstStyle/>
          <a:p>
            <a:pPr algn="l"/>
            <a:r>
              <a:rPr sz="2000" b="1" i="0">
                <a:solidFill>
                  <a:srgbClr val="262626"/>
                </a:solidFill>
                <a:latin typeface="Arial"/>
                <a:ea typeface="微软雅黑"/>
              </a:rPr>
              <a:t>Real-Time Performance</a:t>
            </a:r>
          </a:p>
        </p:txBody>
      </p:sp>
      <p:sp>
        <p:nvSpPr>
          <p:cNvPr id="17" name="TextBox 16"/>
          <p:cNvSpPr txBox="1"/>
          <p:nvPr/>
        </p:nvSpPr>
        <p:spPr>
          <a:xfrm>
            <a:off x="1508760" y="4873752"/>
            <a:ext cx="10058400" cy="457200"/>
          </a:xfrm>
          <a:prstGeom prst="rect">
            <a:avLst/>
          </a:prstGeom>
          <a:noFill/>
        </p:spPr>
        <p:txBody>
          <a:bodyPr wrap="square" lIns="45720" tIns="18288" rIns="45720" bIns="18288" anchor="t">
            <a:noAutofit/>
          </a:bodyPr>
          <a:lstStyle/>
          <a:p>
            <a:pPr algn="l"/>
            <a:r>
              <a:rPr sz="1600" b="0" i="0">
                <a:solidFill>
                  <a:srgbClr val="707070"/>
                </a:solidFill>
                <a:latin typeface="Arial"/>
                <a:ea typeface="微软雅黑"/>
              </a:rPr>
              <a:t>8–29% lower MLU and 11–3288× speedup → millisecond-scale allocation for dynamic LEO.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02920"/>
            <a:ext cx="10908792" cy="5852160"/>
          </a:xfrm>
          <a:prstGeom prst="rect">
            <a:avLst/>
          </a:prstGeom>
          <a:noFill/>
          <a:ln w="15875">
            <a:solidFill>
              <a:srgbClr val="453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lide2_图片 23.png"/>
          <p:cNvPicPr>
            <a:picLocks noChangeAspect="1"/>
          </p:cNvPicPr>
          <p:nvPr/>
        </p:nvPicPr>
        <p:blipFill>
          <a:blip r:embed="rId3"/>
          <a:stretch>
            <a:fillRect/>
          </a:stretch>
        </p:blipFill>
        <p:spPr>
          <a:xfrm>
            <a:off x="5541264" y="1051560"/>
            <a:ext cx="1143000" cy="1143000"/>
          </a:xfrm>
          <a:prstGeom prst="rect">
            <a:avLst/>
          </a:prstGeom>
        </p:spPr>
      </p:pic>
      <p:sp>
        <p:nvSpPr>
          <p:cNvPr id="5" name="TextBox 4"/>
          <p:cNvSpPr txBox="1"/>
          <p:nvPr/>
        </p:nvSpPr>
        <p:spPr>
          <a:xfrm>
            <a:off x="640080" y="2514600"/>
            <a:ext cx="10908792" cy="1371600"/>
          </a:xfrm>
          <a:prstGeom prst="rect">
            <a:avLst/>
          </a:prstGeom>
          <a:noFill/>
        </p:spPr>
        <p:txBody>
          <a:bodyPr wrap="square" lIns="45720" tIns="18288" rIns="45720" bIns="18288" anchor="ctr">
            <a:noAutofit/>
          </a:bodyPr>
          <a:lstStyle/>
          <a:p>
            <a:pPr algn="ctr"/>
            <a:r>
              <a:rPr sz="7600" b="1" i="0">
                <a:solidFill>
                  <a:srgbClr val="453D3A"/>
                </a:solidFill>
                <a:latin typeface="Arial"/>
                <a:ea typeface="微软雅黑"/>
              </a:rPr>
              <a:t>THANK YOU</a:t>
            </a:r>
          </a:p>
        </p:txBody>
      </p:sp>
      <p:sp>
        <p:nvSpPr>
          <p:cNvPr id="6" name="TextBox 5"/>
          <p:cNvSpPr txBox="1"/>
          <p:nvPr/>
        </p:nvSpPr>
        <p:spPr>
          <a:xfrm>
            <a:off x="640080" y="4069080"/>
            <a:ext cx="10908792" cy="457200"/>
          </a:xfrm>
          <a:prstGeom prst="rect">
            <a:avLst/>
          </a:prstGeom>
          <a:noFill/>
        </p:spPr>
        <p:txBody>
          <a:bodyPr wrap="square" lIns="45720" tIns="18288" rIns="45720" bIns="18288" anchor="t">
            <a:noAutofit/>
          </a:bodyPr>
          <a:lstStyle/>
          <a:p>
            <a:pPr algn="ctr"/>
            <a:r>
              <a:rPr sz="1700" b="0" i="0">
                <a:solidFill>
                  <a:srgbClr val="262626"/>
                </a:solidFill>
                <a:latin typeface="Arial"/>
                <a:ea typeface="微软雅黑"/>
              </a:rPr>
              <a:t>ELATE: Elephant Flow-aware Learning-Accelerated Traffic Engineering</a:t>
            </a:r>
          </a:p>
        </p:txBody>
      </p:sp>
      <p:sp>
        <p:nvSpPr>
          <p:cNvPr id="7" name="TextBox 6"/>
          <p:cNvSpPr txBox="1"/>
          <p:nvPr/>
        </p:nvSpPr>
        <p:spPr>
          <a:xfrm>
            <a:off x="640080" y="4617720"/>
            <a:ext cx="10908792" cy="365760"/>
          </a:xfrm>
          <a:prstGeom prst="rect">
            <a:avLst/>
          </a:prstGeom>
          <a:noFill/>
        </p:spPr>
        <p:txBody>
          <a:bodyPr wrap="square" lIns="45720" tIns="18288" rIns="45720" bIns="18288" anchor="t">
            <a:noAutofit/>
          </a:bodyPr>
          <a:lstStyle/>
          <a:p>
            <a:pPr algn="ctr"/>
            <a:r>
              <a:rPr sz="1400" b="0" i="0">
                <a:solidFill>
                  <a:srgbClr val="707070"/>
                </a:solidFill>
                <a:latin typeface="Arial"/>
                <a:ea typeface="微软雅黑"/>
              </a:rPr>
              <a:t>He Ma   |   Beijing University of Posts and Telecommunications</a:t>
            </a:r>
          </a:p>
        </p:txBody>
      </p:sp>
      <p:sp>
        <p:nvSpPr>
          <p:cNvPr id="8" name="TextBox 7"/>
          <p:cNvSpPr txBox="1"/>
          <p:nvPr/>
        </p:nvSpPr>
        <p:spPr>
          <a:xfrm>
            <a:off x="640080" y="5074920"/>
            <a:ext cx="10908792" cy="384048"/>
          </a:xfrm>
          <a:prstGeom prst="rect">
            <a:avLst/>
          </a:prstGeom>
          <a:noFill/>
        </p:spPr>
        <p:txBody>
          <a:bodyPr wrap="square" lIns="45720" tIns="18288" rIns="45720" bIns="18288" anchor="t">
            <a:noAutofit/>
          </a:bodyPr>
          <a:lstStyle/>
          <a:p>
            <a:pPr algn="ctr"/>
            <a:r>
              <a:rPr sz="1600" b="1" i="0">
                <a:solidFill>
                  <a:srgbClr val="453D3A"/>
                </a:solidFill>
                <a:latin typeface="Arial"/>
                <a:ea typeface="微软雅黑"/>
              </a:rPr>
              <a:t>Corresponding author:  Yumei Wang   ·   ymwang@bupt.edu.cn</a:t>
            </a:r>
          </a:p>
        </p:txBody>
      </p:sp>
      <p:sp>
        <p:nvSpPr>
          <p:cNvPr id="9" name="TextBox 8"/>
          <p:cNvSpPr txBox="1"/>
          <p:nvPr/>
        </p:nvSpPr>
        <p:spPr>
          <a:xfrm>
            <a:off x="640080" y="5897880"/>
            <a:ext cx="10908792" cy="320040"/>
          </a:xfrm>
          <a:prstGeom prst="rect">
            <a:avLst/>
          </a:prstGeom>
          <a:noFill/>
        </p:spPr>
        <p:txBody>
          <a:bodyPr wrap="square" lIns="45720" tIns="18288" rIns="45720" bIns="18288" anchor="t">
            <a:noAutofit/>
          </a:bodyPr>
          <a:lstStyle/>
          <a:p>
            <a:pPr algn="ctr"/>
            <a:r>
              <a:rPr sz="1100" b="0" i="0">
                <a:solidFill>
                  <a:srgbClr val="707070"/>
                </a:solidFill>
                <a:latin typeface="Arial"/>
                <a:ea typeface="微软雅黑"/>
              </a:rPr>
              <a:t>Supported by the National Key R&amp;D Program of China (No. 2022YFB2902705).</a:t>
            </a:r>
          </a:p>
        </p:txBody>
      </p:sp>
    </p:spTree>
  </p:cSld>
  <p:clrMapOvr>
    <a:masterClrMapping/>
  </p:clrMapOvr>
</p:sld>
</file>

<file path=ppt/theme/theme1.xml><?xml version="1.0" encoding="utf-8"?>
<a:theme xmlns:a="http://schemas.openxmlformats.org/drawingml/2006/main" name="Office 主题">
  <a:themeElements>
    <a:clrScheme name="工大蓝">
      <a:dk1>
        <a:sysClr val="windowText" lastClr="000000"/>
      </a:dk1>
      <a:lt1>
        <a:sysClr val="window" lastClr="FFFFFF"/>
      </a:lt1>
      <a:dk2>
        <a:srgbClr val="44546A"/>
      </a:dk2>
      <a:lt2>
        <a:srgbClr val="E7E6E6"/>
      </a:lt2>
      <a:accent1>
        <a:srgbClr val="0053A3"/>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CIP2019-1126 [兼容模式]" id="{FA0ADACF-6042-418E-B35A-E9D28D565D52}" vid="{10F35F20-D0F9-4F6B-937B-5E53EEC0F91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VCIP2019-1126</Template>
  <TotalTime>6807</TotalTime>
  <Words>3185</Words>
  <Application>Microsoft Macintosh PowerPoint</Application>
  <PresentationFormat>宽屏</PresentationFormat>
  <Paragraphs>362</Paragraphs>
  <Slides>22</Slides>
  <Notes>22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Arial</vt:lpstr>
      <vt:lpstr>Calibri</vt:lpstr>
      <vt:lpstr>Cambria</vt:lpstr>
      <vt:lpstr>Consolas</vt:lpstr>
      <vt:lpstr>Verdana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M74</dc:creator>
  <cp:lastModifiedBy>htdwdzdx</cp:lastModifiedBy>
  <cp:revision>279</cp:revision>
  <cp:lastPrinted>2019-11-28T09:42:50Z</cp:lastPrinted>
  <dcterms:created xsi:type="dcterms:W3CDTF">2019-11-28T02:01:46Z</dcterms:created>
  <dcterms:modified xsi:type="dcterms:W3CDTF">2026-08-30T09:52:00Z</dcterms:modified>
</cp:coreProperties>
</file>